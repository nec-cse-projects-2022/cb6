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6"/>
  </p:notesMasterIdLst>
  <p:handoutMasterIdLst>
    <p:handoutMasterId r:id="rId27"/>
  </p:handoutMasterIdLst>
  <p:sldIdLst>
    <p:sldId id="258" r:id="rId2"/>
    <p:sldId id="260" r:id="rId3"/>
    <p:sldId id="262" r:id="rId4"/>
    <p:sldId id="287" r:id="rId5"/>
    <p:sldId id="302" r:id="rId6"/>
    <p:sldId id="303" r:id="rId7"/>
    <p:sldId id="265" r:id="rId8"/>
    <p:sldId id="270" r:id="rId9"/>
    <p:sldId id="266" r:id="rId10"/>
    <p:sldId id="268" r:id="rId11"/>
    <p:sldId id="269" r:id="rId12"/>
    <p:sldId id="305" r:id="rId13"/>
    <p:sldId id="291" r:id="rId14"/>
    <p:sldId id="306" r:id="rId15"/>
    <p:sldId id="292" r:id="rId16"/>
    <p:sldId id="299" r:id="rId17"/>
    <p:sldId id="272" r:id="rId18"/>
    <p:sldId id="307" r:id="rId19"/>
    <p:sldId id="273" r:id="rId20"/>
    <p:sldId id="278" r:id="rId21"/>
    <p:sldId id="300" r:id="rId22"/>
    <p:sldId id="296" r:id="rId23"/>
    <p:sldId id="301" r:id="rId24"/>
    <p:sldId id="29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E87431-6AEB-42EB-B935-3A17F7C371A5}" v="4" dt="2025-11-10T06:22:30.8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94660"/>
  </p:normalViewPr>
  <p:slideViewPr>
    <p:cSldViewPr snapToGrid="0">
      <p:cViewPr varScale="1">
        <p:scale>
          <a:sx n="82" d="100"/>
          <a:sy n="82" d="100"/>
        </p:scale>
        <p:origin x="874" y="72"/>
      </p:cViewPr>
      <p:guideLst/>
    </p:cSldViewPr>
  </p:slideViewPr>
  <p:notesTextViewPr>
    <p:cViewPr>
      <p:scale>
        <a:sx n="1" d="1"/>
        <a:sy n="1" d="1"/>
      </p:scale>
      <p:origin x="0" y="0"/>
    </p:cViewPr>
  </p:notesTextViewPr>
  <p:notesViewPr>
    <p:cSldViewPr snapToGrid="0">
      <p:cViewPr varScale="1">
        <p:scale>
          <a:sx n="57" d="100"/>
          <a:sy n="57" d="100"/>
        </p:scale>
        <p:origin x="2832"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esh babu jonnalagadda" userId="997c09c3e1543dd4" providerId="LiveId" clId="{35637E80-A3FE-4AC4-9E47-9CE30AD9CDFC}"/>
    <pc:docChg chg="undo custSel delSld modSld">
      <pc:chgData name="mahesh babu jonnalagadda" userId="997c09c3e1543dd4" providerId="LiveId" clId="{35637E80-A3FE-4AC4-9E47-9CE30AD9CDFC}" dt="2025-11-10T06:27:51.117" v="87" actId="1076"/>
      <pc:docMkLst>
        <pc:docMk/>
      </pc:docMkLst>
      <pc:sldChg chg="modSp mod">
        <pc:chgData name="mahesh babu jonnalagadda" userId="997c09c3e1543dd4" providerId="LiveId" clId="{35637E80-A3FE-4AC4-9E47-9CE30AD9CDFC}" dt="2025-11-10T06:15:00.551" v="1" actId="27636"/>
        <pc:sldMkLst>
          <pc:docMk/>
          <pc:sldMk cId="2711103795" sldId="273"/>
        </pc:sldMkLst>
        <pc:spChg chg="mod">
          <ac:chgData name="mahesh babu jonnalagadda" userId="997c09c3e1543dd4" providerId="LiveId" clId="{35637E80-A3FE-4AC4-9E47-9CE30AD9CDFC}" dt="2025-11-10T06:15:00.551" v="1" actId="27636"/>
          <ac:spMkLst>
            <pc:docMk/>
            <pc:sldMk cId="2711103795" sldId="273"/>
            <ac:spMk id="9" creationId="{0BAA4F36-AB00-F2C4-B47F-6381355DE604}"/>
          </ac:spMkLst>
        </pc:spChg>
      </pc:sldChg>
      <pc:sldChg chg="modSp del">
        <pc:chgData name="mahesh babu jonnalagadda" userId="997c09c3e1543dd4" providerId="LiveId" clId="{35637E80-A3FE-4AC4-9E47-9CE30AD9CDFC}" dt="2025-11-10T06:23:36.735" v="74" actId="2696"/>
        <pc:sldMkLst>
          <pc:docMk/>
          <pc:sldMk cId="2913546875" sldId="283"/>
        </pc:sldMkLst>
        <pc:picChg chg="mod">
          <ac:chgData name="mahesh babu jonnalagadda" userId="997c09c3e1543dd4" providerId="LiveId" clId="{35637E80-A3FE-4AC4-9E47-9CE30AD9CDFC}" dt="2025-11-10T06:22:30.854" v="73" actId="14861"/>
          <ac:picMkLst>
            <pc:docMk/>
            <pc:sldMk cId="2913546875" sldId="283"/>
            <ac:picMk id="2052" creationId="{A813783E-F5AF-FDB1-4EE4-FD6E6010F642}"/>
          </ac:picMkLst>
        </pc:picChg>
      </pc:sldChg>
      <pc:sldChg chg="addSp delSp modSp mod">
        <pc:chgData name="mahesh babu jonnalagadda" userId="997c09c3e1543dd4" providerId="LiveId" clId="{35637E80-A3FE-4AC4-9E47-9CE30AD9CDFC}" dt="2025-11-10T06:27:51.117" v="87" actId="1076"/>
        <pc:sldMkLst>
          <pc:docMk/>
          <pc:sldMk cId="932352553" sldId="298"/>
        </pc:sldMkLst>
        <pc:spChg chg="mod">
          <ac:chgData name="mahesh babu jonnalagadda" userId="997c09c3e1543dd4" providerId="LiveId" clId="{35637E80-A3FE-4AC4-9E47-9CE30AD9CDFC}" dt="2025-11-10T06:27:51.117" v="87" actId="1076"/>
          <ac:spMkLst>
            <pc:docMk/>
            <pc:sldMk cId="932352553" sldId="298"/>
            <ac:spMk id="2" creationId="{0EC7430A-33CA-2565-819E-28B11E34152A}"/>
          </ac:spMkLst>
        </pc:spChg>
        <pc:spChg chg="add mod">
          <ac:chgData name="mahesh babu jonnalagadda" userId="997c09c3e1543dd4" providerId="LiveId" clId="{35637E80-A3FE-4AC4-9E47-9CE30AD9CDFC}" dt="2025-11-10T06:20:37.263" v="70" actId="255"/>
          <ac:spMkLst>
            <pc:docMk/>
            <pc:sldMk cId="932352553" sldId="298"/>
            <ac:spMk id="4" creationId="{111E7090-FBE5-8B18-1E60-0B3BF114FF49}"/>
          </ac:spMkLst>
        </pc:spChg>
        <pc:picChg chg="del">
          <ac:chgData name="mahesh babu jonnalagadda" userId="997c09c3e1543dd4" providerId="LiveId" clId="{35637E80-A3FE-4AC4-9E47-9CE30AD9CDFC}" dt="2025-11-10T06:15:50.914" v="3" actId="21"/>
          <ac:picMkLst>
            <pc:docMk/>
            <pc:sldMk cId="932352553" sldId="298"/>
            <ac:picMk id="14" creationId="{B3B728E9-6EC4-56D6-7126-768F1504E904}"/>
          </ac:picMkLst>
        </pc:picChg>
      </pc:sldChg>
      <pc:sldChg chg="addSp modSp mod">
        <pc:chgData name="mahesh babu jonnalagadda" userId="997c09c3e1543dd4" providerId="LiveId" clId="{35637E80-A3FE-4AC4-9E47-9CE30AD9CDFC}" dt="2025-11-10T06:15:06.811" v="2" actId="1076"/>
        <pc:sldMkLst>
          <pc:docMk/>
          <pc:sldMk cId="2671964" sldId="299"/>
        </pc:sldMkLst>
        <pc:picChg chg="add mod">
          <ac:chgData name="mahesh babu jonnalagadda" userId="997c09c3e1543dd4" providerId="LiveId" clId="{35637E80-A3FE-4AC4-9E47-9CE30AD9CDFC}" dt="2025-11-10T06:15:06.811" v="2" actId="1076"/>
          <ac:picMkLst>
            <pc:docMk/>
            <pc:sldMk cId="2671964" sldId="299"/>
            <ac:picMk id="8" creationId="{9B5B45C8-FC52-468B-1C2D-B70ACA7D637E}"/>
          </ac:picMkLst>
        </pc:pic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9199655-05E8-4463-9482-2D23FD405AF3}" type="datetimeFigureOut">
              <a:rPr lang="en-IN" smtClean="0"/>
              <a:t>10-11-2025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C9CC48-2212-46F0-B96C-6F8104E82434}" type="slidenum">
              <a:rPr lang="en-IN" smtClean="0"/>
              <a:t>‹#›</a:t>
            </a:fld>
            <a:endParaRPr lang="en-IN"/>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3851868"/>
          </a:xfrm>
          <a:prstGeom prst="rect">
            <a:avLst/>
          </a:prstGeom>
        </p:spPr>
      </p:pic>
    </p:spTree>
    <p:extLst>
      <p:ext uri="{BB962C8B-B14F-4D97-AF65-F5344CB8AC3E}">
        <p14:creationId xmlns:p14="http://schemas.microsoft.com/office/powerpoint/2010/main" val="12714582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DE0E28-087F-4BBF-B8BC-055CB0BBD464}" type="datetimeFigureOut">
              <a:rPr lang="en-IN" smtClean="0"/>
              <a:t>10-11-2025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5E3DF0-35B4-40E5-AC91-1A2000F81275}" type="slidenum">
              <a:rPr lang="en-IN" smtClean="0"/>
              <a:t>‹#›</a:t>
            </a:fld>
            <a:endParaRPr lang="en-IN"/>
          </a:p>
        </p:txBody>
      </p:sp>
    </p:spTree>
    <p:extLst>
      <p:ext uri="{BB962C8B-B14F-4D97-AF65-F5344CB8AC3E}">
        <p14:creationId xmlns:p14="http://schemas.microsoft.com/office/powerpoint/2010/main" val="2605513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65E3DF0-35B4-40E5-AC91-1A2000F81275}" type="slidenum">
              <a:rPr lang="en-IN" smtClean="0"/>
              <a:t>1</a:t>
            </a:fld>
            <a:endParaRPr lang="en-IN"/>
          </a:p>
        </p:txBody>
      </p:sp>
    </p:spTree>
    <p:extLst>
      <p:ext uri="{BB962C8B-B14F-4D97-AF65-F5344CB8AC3E}">
        <p14:creationId xmlns:p14="http://schemas.microsoft.com/office/powerpoint/2010/main" val="16973837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F2C119A-2030-4099-B7BC-BC6A380509A3}" type="datetime1">
              <a:rPr lang="en-IN" smtClean="0"/>
              <a:t>10-11-2025</a:t>
            </a:fld>
            <a:endParaRPr lang="en-IN"/>
          </a:p>
        </p:txBody>
      </p:sp>
      <p:sp>
        <p:nvSpPr>
          <p:cNvPr id="5" name="Footer Placeholder 4"/>
          <p:cNvSpPr>
            <a:spLocks noGrp="1"/>
          </p:cNvSpPr>
          <p:nvPr>
            <p:ph type="ftr" sz="quarter" idx="11"/>
          </p:nvPr>
        </p:nvSpPr>
        <p:spPr/>
        <p:txBody>
          <a:bodyPr/>
          <a:lstStyle/>
          <a:p>
            <a:r>
              <a:rPr lang="en-US"/>
              <a:t>Review No. 01        Batch No. CB1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4231652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073CF87-33B1-476E-9232-3CD697DB205D}" type="datetime1">
              <a:rPr lang="en-IN" smtClean="0"/>
              <a:t>10-11-2025</a:t>
            </a:fld>
            <a:endParaRPr lang="en-IN"/>
          </a:p>
        </p:txBody>
      </p:sp>
      <p:sp>
        <p:nvSpPr>
          <p:cNvPr id="5" name="Footer Placeholder 4"/>
          <p:cNvSpPr>
            <a:spLocks noGrp="1"/>
          </p:cNvSpPr>
          <p:nvPr>
            <p:ph type="ftr" sz="quarter" idx="11"/>
          </p:nvPr>
        </p:nvSpPr>
        <p:spPr/>
        <p:txBody>
          <a:bodyPr/>
          <a:lstStyle/>
          <a:p>
            <a:r>
              <a:rPr lang="en-US"/>
              <a:t>Review No. 01        Batch No. CB1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7802064" cy="4382112"/>
          </a:xfrm>
          <a:prstGeom prst="rect">
            <a:avLst/>
          </a:prstGeom>
        </p:spPr>
      </p:pic>
    </p:spTree>
    <p:extLst>
      <p:ext uri="{BB962C8B-B14F-4D97-AF65-F5344CB8AC3E}">
        <p14:creationId xmlns:p14="http://schemas.microsoft.com/office/powerpoint/2010/main" val="2262376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48418BF-3411-4826-9BA3-0E96A4E1CB6B}" type="datetime1">
              <a:rPr lang="en-IN" smtClean="0"/>
              <a:t>10-11-2025</a:t>
            </a:fld>
            <a:endParaRPr lang="en-IN"/>
          </a:p>
        </p:txBody>
      </p:sp>
      <p:sp>
        <p:nvSpPr>
          <p:cNvPr id="5" name="Footer Placeholder 4"/>
          <p:cNvSpPr>
            <a:spLocks noGrp="1"/>
          </p:cNvSpPr>
          <p:nvPr>
            <p:ph type="ftr" sz="quarter" idx="11"/>
          </p:nvPr>
        </p:nvSpPr>
        <p:spPr/>
        <p:txBody>
          <a:bodyPr/>
          <a:lstStyle/>
          <a:p>
            <a:r>
              <a:rPr lang="en-US"/>
              <a:t>Review No. 01        Batch No. CB1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2132791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AB7BD0BE-2096-4BFE-BDFA-4C60DA83F8D2}" type="datetime1">
              <a:rPr lang="en-IN" smtClean="0"/>
              <a:t>10-11-2025</a:t>
            </a:fld>
            <a:endParaRPr lang="en-IN"/>
          </a:p>
        </p:txBody>
      </p:sp>
      <p:sp>
        <p:nvSpPr>
          <p:cNvPr id="6" name="Footer Placeholder 5"/>
          <p:cNvSpPr>
            <a:spLocks noGrp="1"/>
          </p:cNvSpPr>
          <p:nvPr>
            <p:ph type="ftr" sz="quarter" idx="11"/>
          </p:nvPr>
        </p:nvSpPr>
        <p:spPr/>
        <p:txBody>
          <a:bodyPr/>
          <a:lstStyle/>
          <a:p>
            <a:r>
              <a:rPr lang="en-US"/>
              <a:t>Review No. 01        Batch No. CB1           Department of CSE</a:t>
            </a:r>
            <a:endParaRPr lang="en-IN"/>
          </a:p>
        </p:txBody>
      </p:sp>
      <p:sp>
        <p:nvSpPr>
          <p:cNvPr id="7" name="Slide Number Placeholder 6"/>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2402758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BCEA0AA4-3FA4-4BD2-A327-67CE587183CC}" type="datetime1">
              <a:rPr lang="en-IN" smtClean="0"/>
              <a:t>10-11-2025</a:t>
            </a:fld>
            <a:endParaRPr lang="en-IN"/>
          </a:p>
        </p:txBody>
      </p:sp>
      <p:sp>
        <p:nvSpPr>
          <p:cNvPr id="8" name="Footer Placeholder 7"/>
          <p:cNvSpPr>
            <a:spLocks noGrp="1"/>
          </p:cNvSpPr>
          <p:nvPr>
            <p:ph type="ftr" sz="quarter" idx="11"/>
          </p:nvPr>
        </p:nvSpPr>
        <p:spPr/>
        <p:txBody>
          <a:bodyPr/>
          <a:lstStyle/>
          <a:p>
            <a:r>
              <a:rPr lang="en-US"/>
              <a:t>Review No. 01        Batch No. CB1           Department of CSE</a:t>
            </a:r>
            <a:endParaRPr lang="en-IN"/>
          </a:p>
        </p:txBody>
      </p:sp>
      <p:sp>
        <p:nvSpPr>
          <p:cNvPr id="9" name="Slide Number Placeholder 8"/>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3859279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C4BC7149-436E-4B63-9AE5-D2D8F6827215}" type="datetime1">
              <a:rPr lang="en-IN" smtClean="0"/>
              <a:t>10-11-2025</a:t>
            </a:fld>
            <a:endParaRPr lang="en-IN"/>
          </a:p>
        </p:txBody>
      </p:sp>
      <p:sp>
        <p:nvSpPr>
          <p:cNvPr id="4" name="Footer Placeholder 3"/>
          <p:cNvSpPr>
            <a:spLocks noGrp="1"/>
          </p:cNvSpPr>
          <p:nvPr>
            <p:ph type="ftr" sz="quarter" idx="11"/>
          </p:nvPr>
        </p:nvSpPr>
        <p:spPr/>
        <p:txBody>
          <a:bodyPr/>
          <a:lstStyle/>
          <a:p>
            <a:r>
              <a:rPr lang="en-US"/>
              <a:t>Review No. 01        Batch No. CB1           Department of CSE</a:t>
            </a:r>
            <a:endParaRPr lang="en-IN"/>
          </a:p>
        </p:txBody>
      </p:sp>
      <p:sp>
        <p:nvSpPr>
          <p:cNvPr id="5" name="Slide Number Placeholder 4"/>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2826415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64D6FB-F532-43A3-80A5-54DC43703542}" type="datetime1">
              <a:rPr lang="en-IN" smtClean="0"/>
              <a:t>10-11-2025</a:t>
            </a:fld>
            <a:endParaRPr lang="en-IN"/>
          </a:p>
        </p:txBody>
      </p:sp>
      <p:sp>
        <p:nvSpPr>
          <p:cNvPr id="3" name="Footer Placeholder 2"/>
          <p:cNvSpPr>
            <a:spLocks noGrp="1"/>
          </p:cNvSpPr>
          <p:nvPr>
            <p:ph type="ftr" sz="quarter" idx="11"/>
          </p:nvPr>
        </p:nvSpPr>
        <p:spPr/>
        <p:txBody>
          <a:bodyPr/>
          <a:lstStyle/>
          <a:p>
            <a:r>
              <a:rPr lang="en-US"/>
              <a:t>Review No. 01        Batch No. CB1           Department of CSE</a:t>
            </a:r>
            <a:endParaRPr lang="en-IN"/>
          </a:p>
        </p:txBody>
      </p:sp>
      <p:sp>
        <p:nvSpPr>
          <p:cNvPr id="4" name="Slide Number Placeholder 3"/>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459629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F95793-E089-4EBA-9879-0A35E00EDD6F}" type="datetime1">
              <a:rPr lang="en-IN" smtClean="0"/>
              <a:t>10-11-2025</a:t>
            </a:fld>
            <a:endParaRPr lang="en-IN"/>
          </a:p>
        </p:txBody>
      </p:sp>
      <p:sp>
        <p:nvSpPr>
          <p:cNvPr id="6" name="Footer Placeholder 5"/>
          <p:cNvSpPr>
            <a:spLocks noGrp="1"/>
          </p:cNvSpPr>
          <p:nvPr>
            <p:ph type="ftr" sz="quarter" idx="11"/>
          </p:nvPr>
        </p:nvSpPr>
        <p:spPr/>
        <p:txBody>
          <a:bodyPr/>
          <a:lstStyle/>
          <a:p>
            <a:r>
              <a:rPr lang="en-US"/>
              <a:t>Review No. 01        Batch No. CB1           Department of CSE</a:t>
            </a:r>
            <a:endParaRPr lang="en-IN"/>
          </a:p>
        </p:txBody>
      </p:sp>
      <p:sp>
        <p:nvSpPr>
          <p:cNvPr id="7" name="Slide Number Placeholder 6"/>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681320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F4621D-49E0-4FD0-A9CA-71EB186FA9FF}" type="datetime1">
              <a:rPr lang="en-IN" smtClean="0"/>
              <a:t>10-11-2025</a:t>
            </a:fld>
            <a:endParaRPr lang="en-IN"/>
          </a:p>
        </p:txBody>
      </p:sp>
      <p:sp>
        <p:nvSpPr>
          <p:cNvPr id="6" name="Footer Placeholder 5"/>
          <p:cNvSpPr>
            <a:spLocks noGrp="1"/>
          </p:cNvSpPr>
          <p:nvPr>
            <p:ph type="ftr" sz="quarter" idx="11"/>
          </p:nvPr>
        </p:nvSpPr>
        <p:spPr/>
        <p:txBody>
          <a:bodyPr/>
          <a:lstStyle/>
          <a:p>
            <a:r>
              <a:rPr lang="en-US"/>
              <a:t>Review No. 01        Batch No. CB1           Department of CSE</a:t>
            </a:r>
            <a:endParaRPr lang="en-IN"/>
          </a:p>
        </p:txBody>
      </p:sp>
      <p:sp>
        <p:nvSpPr>
          <p:cNvPr id="7" name="Slide Number Placeholder 6"/>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36022788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0A86B58-4BD1-41C3-BE2D-2F19F802543B}" type="datetime1">
              <a:rPr lang="en-IN" smtClean="0"/>
              <a:t>10-11-2025</a:t>
            </a:fld>
            <a:endParaRPr lang="en-IN"/>
          </a:p>
        </p:txBody>
      </p:sp>
      <p:sp>
        <p:nvSpPr>
          <p:cNvPr id="5" name="Footer Placeholder 4"/>
          <p:cNvSpPr>
            <a:spLocks noGrp="1"/>
          </p:cNvSpPr>
          <p:nvPr>
            <p:ph type="ftr" sz="quarter" idx="11"/>
          </p:nvPr>
        </p:nvSpPr>
        <p:spPr/>
        <p:txBody>
          <a:bodyPr/>
          <a:lstStyle/>
          <a:p>
            <a:r>
              <a:rPr lang="en-US"/>
              <a:t>Review No. 01        Batch No. CB1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3394357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B5C62AE-9086-490F-97C9-8016B7390020}" type="datetime1">
              <a:rPr lang="en-IN" smtClean="0"/>
              <a:t>10-11-2025</a:t>
            </a:fld>
            <a:endParaRPr lang="en-IN"/>
          </a:p>
        </p:txBody>
      </p:sp>
      <p:sp>
        <p:nvSpPr>
          <p:cNvPr id="5" name="Footer Placeholder 4"/>
          <p:cNvSpPr>
            <a:spLocks noGrp="1"/>
          </p:cNvSpPr>
          <p:nvPr>
            <p:ph type="ftr" sz="quarter" idx="11"/>
          </p:nvPr>
        </p:nvSpPr>
        <p:spPr/>
        <p:txBody>
          <a:bodyPr/>
          <a:lstStyle/>
          <a:p>
            <a:r>
              <a:rPr lang="en-US"/>
              <a:t>Review No. 01        Batch No. CB1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1839206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DD608A-327C-460D-B137-2690D0731305}" type="datetime1">
              <a:rPr lang="en-IN" smtClean="0"/>
              <a:t>10-11-2025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No. 01        Batch No. CB1           Department of CSE</a:t>
            </a:r>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DCBD69-296B-4D7C-AF62-9B588FC78772}" type="slidenum">
              <a:rPr lang="en-IN" smtClean="0"/>
              <a:t>‹#›</a:t>
            </a:fld>
            <a:endParaRPr lang="en-IN"/>
          </a:p>
        </p:txBody>
      </p:sp>
    </p:spTree>
    <p:extLst>
      <p:ext uri="{BB962C8B-B14F-4D97-AF65-F5344CB8AC3E}">
        <p14:creationId xmlns:p14="http://schemas.microsoft.com/office/powerpoint/2010/main" val="41065171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7"/>
          <p:cNvSpPr txBox="1">
            <a:spLocks/>
          </p:cNvSpPr>
          <p:nvPr/>
        </p:nvSpPr>
        <p:spPr>
          <a:xfrm>
            <a:off x="1754154" y="705471"/>
            <a:ext cx="8915400" cy="375925"/>
          </a:xfrm>
          <a:prstGeom prst="roundRect">
            <a:avLst>
              <a:gd name="adj" fmla="val 16667"/>
            </a:avLst>
          </a:prstGeom>
          <a:ln w="25400" cap="flat" cmpd="sng" algn="ctr">
            <a:solidFill>
              <a:schemeClr val="bg1"/>
            </a:solidFill>
            <a:prstDash val="solid"/>
          </a:ln>
        </p:spPr>
        <p:style>
          <a:lnRef idx="2">
            <a:schemeClr val="accent1"/>
          </a:lnRef>
          <a:fillRef idx="1">
            <a:schemeClr val="lt1"/>
          </a:fillRef>
          <a:effectRef idx="0">
            <a:schemeClr val="accent1"/>
          </a:effectRef>
          <a:fontRef idx="minor">
            <a:schemeClr val="dk1"/>
          </a:fontRef>
        </p:style>
        <p:txBody>
          <a:bodyPr>
            <a:noAutofit/>
          </a:bodyPr>
          <a:lstStyle/>
          <a:p>
            <a:pPr algn="ctr">
              <a:spcBef>
                <a:spcPct val="20000"/>
              </a:spcBef>
              <a:defRPr/>
            </a:pPr>
            <a:r>
              <a:rPr lang="en-US" sz="2400" b="1" dirty="0">
                <a:solidFill>
                  <a:srgbClr val="0070C0"/>
                </a:solidFill>
                <a:latin typeface="Hubot Sans Bold" pitchFamily="34" charset="0"/>
                <a:ea typeface="Hubot Sans Bold" pitchFamily="34" charset="-122"/>
                <a:cs typeface="Hubot Sans Bold" pitchFamily="34" charset="-120"/>
              </a:rPr>
              <a:t>PrivLogEdu: An Innovative Framework for Real-Time Engagement Recognition in Hybrid Classrooms Using Non-Visual Log Data While Maintaining Privacy</a:t>
            </a:r>
            <a:endParaRPr lang="en-US" sz="2400" dirty="0">
              <a:solidFill>
                <a:srgbClr val="0070C0"/>
              </a:solidFill>
            </a:endParaRPr>
          </a:p>
          <a:p>
            <a:pPr algn="ctr">
              <a:spcBef>
                <a:spcPct val="20000"/>
              </a:spcBef>
              <a:defRPr/>
            </a:pPr>
            <a:endParaRPr lang="en-US" sz="2400"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a:p>
            <a:pPr lvl="0" algn="ctr">
              <a:spcBef>
                <a:spcPct val="20000"/>
              </a:spcBef>
              <a:defRPr/>
            </a:pPr>
            <a:endParaRPr lang="en-US" sz="2400" dirty="0">
              <a:solidFill>
                <a:srgbClr val="FF0000"/>
              </a:solidFill>
              <a:latin typeface="Times New Roman" panose="02020603050405020304" pitchFamily="18" charset="0"/>
              <a:cs typeface="Times New Roman" panose="02020603050405020304" pitchFamily="18" charset="0"/>
            </a:endParaRPr>
          </a:p>
        </p:txBody>
      </p:sp>
      <p:sp>
        <p:nvSpPr>
          <p:cNvPr id="16" name="Subtitle 2"/>
          <p:cNvSpPr>
            <a:spLocks noGrp="1"/>
          </p:cNvSpPr>
          <p:nvPr>
            <p:ph type="subTitle" idx="1"/>
          </p:nvPr>
        </p:nvSpPr>
        <p:spPr>
          <a:xfrm>
            <a:off x="1639854" y="1966120"/>
            <a:ext cx="9144000" cy="1605338"/>
          </a:xfrm>
        </p:spPr>
        <p:txBody>
          <a:bodyPr>
            <a:normAutofit/>
          </a:bodyPr>
          <a:lstStyle/>
          <a:p>
            <a:pPr eaLnBrk="1" hangingPunct="1"/>
            <a:r>
              <a:rPr lang="en-US" altLang="en-US" sz="1600" dirty="0">
                <a:solidFill>
                  <a:schemeClr val="tx1"/>
                </a:solidFill>
                <a:latin typeface="Times New Roman" panose="02020603050405020304" pitchFamily="18" charset="0"/>
                <a:cs typeface="Times New Roman" pitchFamily="18" charset="0"/>
              </a:rPr>
              <a:t>PRESENTED BY</a:t>
            </a:r>
          </a:p>
          <a:p>
            <a:pPr algn="l">
              <a:lnSpc>
                <a:spcPts val="2850"/>
              </a:lnSpc>
            </a:pPr>
            <a:r>
              <a:rPr lang="en-US" sz="1600" dirty="0">
                <a:solidFill>
                  <a:srgbClr val="403C4E"/>
                </a:solidFill>
                <a:latin typeface="Open Sans" pitchFamily="34" charset="0"/>
                <a:ea typeface="Open Sans" pitchFamily="34" charset="-122"/>
                <a:cs typeface="Open Sans" pitchFamily="34" charset="-120"/>
              </a:rPr>
              <a:t>                                               Palutla Venkata Naveen  (22471A05I2)</a:t>
            </a:r>
          </a:p>
          <a:p>
            <a:pPr algn="l">
              <a:lnSpc>
                <a:spcPts val="2850"/>
              </a:lnSpc>
            </a:pPr>
            <a:r>
              <a:rPr lang="en-US" sz="1600" dirty="0">
                <a:solidFill>
                  <a:srgbClr val="403C4E"/>
                </a:solidFill>
                <a:latin typeface="Open Sans" pitchFamily="34" charset="0"/>
                <a:ea typeface="Open Sans" pitchFamily="34" charset="-122"/>
                <a:cs typeface="Open Sans" pitchFamily="34" charset="-120"/>
              </a:rPr>
              <a:t>                                              Jonnalagadda Mahesh Babu  (22471A05F9)</a:t>
            </a:r>
          </a:p>
          <a:p>
            <a:pPr algn="l">
              <a:lnSpc>
                <a:spcPts val="2850"/>
              </a:lnSpc>
            </a:pPr>
            <a:endParaRPr lang="en-US" sz="1600" dirty="0">
              <a:solidFill>
                <a:srgbClr val="403C4E"/>
              </a:solidFill>
              <a:latin typeface="Open Sans" pitchFamily="34" charset="0"/>
              <a:ea typeface="Open Sans" pitchFamily="34" charset="-122"/>
              <a:cs typeface="Open Sans" pitchFamily="34" charset="-120"/>
            </a:endParaRPr>
          </a:p>
          <a:p>
            <a:pPr eaLnBrk="1" hangingPunct="1"/>
            <a:endParaRPr lang="en-US" sz="1600" dirty="0">
              <a:solidFill>
                <a:srgbClr val="403C4E"/>
              </a:solidFill>
              <a:latin typeface="Open Sans" pitchFamily="34" charset="0"/>
              <a:ea typeface="Open Sans" pitchFamily="34" charset="-122"/>
              <a:cs typeface="Open Sans" pitchFamily="34" charset="-120"/>
            </a:endParaRPr>
          </a:p>
        </p:txBody>
      </p:sp>
      <p:sp>
        <p:nvSpPr>
          <p:cNvPr id="17" name="Subtitle 2"/>
          <p:cNvSpPr txBox="1">
            <a:spLocks/>
          </p:cNvSpPr>
          <p:nvPr/>
        </p:nvSpPr>
        <p:spPr bwMode="auto">
          <a:xfrm>
            <a:off x="2782854" y="3571458"/>
            <a:ext cx="6858000" cy="2814102"/>
          </a:xfrm>
          <a:prstGeom prst="rect">
            <a:avLst/>
          </a:prstGeom>
          <a:noFill/>
          <a:ln w="9525">
            <a:noFill/>
            <a:miter lim="800000"/>
            <a:headEnd/>
            <a:tailEnd/>
          </a:ln>
        </p:spPr>
        <p:txBody>
          <a:bodyPr/>
          <a:lstStyle/>
          <a:p>
            <a:pPr algn="ctr" eaLnBrk="1" hangingPunct="1">
              <a:spcBef>
                <a:spcPct val="20000"/>
              </a:spcBef>
              <a:buFont typeface="Wingdings" pitchFamily="2" charset="2"/>
              <a:buNone/>
            </a:pPr>
            <a:r>
              <a:rPr lang="en-US" altLang="en-US" dirty="0">
                <a:solidFill>
                  <a:srgbClr val="006600"/>
                </a:solidFill>
                <a:latin typeface="Times New Roman" panose="02020603050405020304" pitchFamily="18" charset="0"/>
                <a:cs typeface="Times New Roman" pitchFamily="18" charset="0"/>
              </a:rPr>
              <a:t>Under the Esteemed Guidance of</a:t>
            </a:r>
            <a:endParaRPr lang="en-US" altLang="en-US" b="1" dirty="0">
              <a:solidFill>
                <a:srgbClr val="006600"/>
              </a:solidFill>
              <a:latin typeface="Times New Roman" pitchFamily="18" charset="0"/>
              <a:cs typeface="Times New Roman" pitchFamily="18" charset="0"/>
            </a:endParaRPr>
          </a:p>
          <a:p>
            <a:pPr algn="ctr">
              <a:spcBef>
                <a:spcPct val="20000"/>
              </a:spcBef>
            </a:pPr>
            <a:endParaRPr lang="en-US" altLang="en-US" sz="900" b="1" dirty="0">
              <a:solidFill>
                <a:schemeClr val="bg1"/>
              </a:solidFill>
              <a:latin typeface="Times New Roman" pitchFamily="18" charset="0"/>
              <a:cs typeface="Times New Roman" pitchFamily="18" charset="0"/>
            </a:endParaRPr>
          </a:p>
          <a:p>
            <a:pPr>
              <a:lnSpc>
                <a:spcPts val="2850"/>
              </a:lnSpc>
            </a:pPr>
            <a:r>
              <a:rPr lang="en-US" sz="1600" dirty="0">
                <a:solidFill>
                  <a:srgbClr val="403C4E"/>
                </a:solidFill>
                <a:latin typeface="Open Sans" pitchFamily="34" charset="0"/>
                <a:ea typeface="Open Sans" pitchFamily="34" charset="-122"/>
                <a:cs typeface="Open Sans" pitchFamily="34" charset="-120"/>
              </a:rPr>
              <a:t>                       Dr.Sighakolli Naga Tirumala Rao M.Tech , Ph.D ,</a:t>
            </a:r>
          </a:p>
          <a:p>
            <a:pPr>
              <a:lnSpc>
                <a:spcPts val="2850"/>
              </a:lnSpc>
            </a:pPr>
            <a:r>
              <a:rPr lang="en-US" sz="1600" dirty="0">
                <a:solidFill>
                  <a:srgbClr val="403C4E"/>
                </a:solidFill>
                <a:latin typeface="Open Sans" pitchFamily="34" charset="0"/>
                <a:ea typeface="Open Sans" pitchFamily="34" charset="-122"/>
                <a:cs typeface="Open Sans" pitchFamily="34" charset="-120"/>
              </a:rPr>
              <a:t>                                        Professor &amp; HOD of CSE    </a:t>
            </a:r>
          </a:p>
          <a:p>
            <a:pPr algn="ctr" eaLnBrk="1" hangingPunct="1">
              <a:lnSpc>
                <a:spcPct val="150000"/>
              </a:lnSpc>
              <a:spcBef>
                <a:spcPct val="20000"/>
              </a:spcBef>
              <a:buFont typeface="Wingdings" pitchFamily="2" charset="2"/>
              <a:buNone/>
            </a:pPr>
            <a:r>
              <a:rPr lang="en-US" altLang="en-US" sz="1600" dirty="0">
                <a:latin typeface="Times New Roman" pitchFamily="18" charset="0"/>
                <a:cs typeface="Times New Roman" pitchFamily="18" charset="0"/>
              </a:rPr>
              <a:t>Department of Computer Science and Engineering,</a:t>
            </a:r>
          </a:p>
          <a:p>
            <a:pPr algn="ctr" eaLnBrk="1" hangingPunct="1">
              <a:lnSpc>
                <a:spcPct val="150000"/>
              </a:lnSpc>
              <a:spcBef>
                <a:spcPct val="20000"/>
              </a:spcBef>
              <a:buFont typeface="Wingdings" pitchFamily="2" charset="2"/>
              <a:buNone/>
            </a:pPr>
            <a:r>
              <a:rPr lang="en-US" altLang="en-US" sz="1600" dirty="0">
                <a:latin typeface="Times New Roman" pitchFamily="18" charset="0"/>
                <a:cs typeface="Times New Roman" pitchFamily="18" charset="0"/>
              </a:rPr>
              <a:t>Narasaraopeta Engineering College (Autonomous),</a:t>
            </a:r>
          </a:p>
          <a:p>
            <a:pPr algn="ctr" eaLnBrk="1" hangingPunct="1">
              <a:lnSpc>
                <a:spcPct val="150000"/>
              </a:lnSpc>
              <a:spcBef>
                <a:spcPct val="20000"/>
              </a:spcBef>
              <a:buFont typeface="Wingdings" pitchFamily="2" charset="2"/>
              <a:buNone/>
            </a:pPr>
            <a:r>
              <a:rPr lang="en-US" altLang="en-US" sz="1600" dirty="0">
                <a:latin typeface="Times New Roman" pitchFamily="18" charset="0"/>
                <a:cs typeface="Times New Roman" pitchFamily="18" charset="0"/>
              </a:rPr>
              <a:t>Narasaraopet - 522 601.</a:t>
            </a:r>
          </a:p>
        </p:txBody>
      </p:sp>
      <p:pic>
        <p:nvPicPr>
          <p:cNvPr id="9" name="Picture 8"/>
          <p:cNvPicPr>
            <a:picLocks noChangeAspect="1"/>
          </p:cNvPicPr>
          <p:nvPr/>
        </p:nvPicPr>
        <p:blipFill>
          <a:blip r:embed="rId3"/>
          <a:stretch>
            <a:fillRect/>
          </a:stretch>
        </p:blipFill>
        <p:spPr>
          <a:xfrm>
            <a:off x="0" y="90674"/>
            <a:ext cx="3762900" cy="579027"/>
          </a:xfrm>
          <a:prstGeom prst="rect">
            <a:avLst/>
          </a:prstGeom>
        </p:spPr>
      </p:pic>
    </p:spTree>
    <p:extLst>
      <p:ext uri="{BB962C8B-B14F-4D97-AF65-F5344CB8AC3E}">
        <p14:creationId xmlns:p14="http://schemas.microsoft.com/office/powerpoint/2010/main" val="17696910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normAutofit/>
          </a:bodyPr>
          <a:lstStyle/>
          <a:p>
            <a:pPr algn="ctr"/>
            <a:r>
              <a:rPr lang="en-US" b="1" dirty="0">
                <a:latin typeface="Times New Roman" panose="02020603050405020304" pitchFamily="18" charset="0"/>
                <a:cs typeface="Times New Roman" panose="02020603050405020304" pitchFamily="18" charset="0"/>
              </a:rPr>
              <a:t>OUTLINE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1099457" y="1493134"/>
            <a:ext cx="10515600" cy="4683829"/>
          </a:xfrm>
        </p:spPr>
        <p:txBody>
          <a:bodyPr>
            <a:normAutofit fontScale="62500" lnSpcReduction="20000"/>
          </a:bodyPr>
          <a:lstStyle/>
          <a:p>
            <a:pPr marL="514350" indent="-514350">
              <a:buFont typeface="+mj-lt"/>
              <a:buAutoNum type="arabicPeriod"/>
            </a:pPr>
            <a:r>
              <a:rPr lang="en-IN" dirty="0">
                <a:latin typeface="Times New Roman" panose="02020603050405020304" pitchFamily="18" charset="0"/>
                <a:cs typeface="Times New Roman" panose="02020603050405020304" pitchFamily="18" charset="0"/>
              </a:rPr>
              <a:t>Abstract</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Introduction</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Literature Survey</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Research Gaps</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Problem Statement</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Objectives</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Block Diagram</a:t>
            </a: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Methodology </a:t>
            </a: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Implementation</a:t>
            </a: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Results and Analysis </a:t>
            </a: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Conclusion &amp; Future Scope</a:t>
            </a: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References</a:t>
            </a: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Acknowledgement</a:t>
            </a:r>
            <a:endParaRPr lang="en-IN"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Q&amp;A</a:t>
            </a:r>
          </a:p>
          <a:p>
            <a:pPr marL="0" indent="0">
              <a:buNone/>
            </a:pPr>
            <a:endParaRPr lang="en-IN"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10-11-2025</a:t>
            </a: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01        Batch No. CB6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67526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ABSTRACT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367645" y="1225485"/>
            <a:ext cx="11425287" cy="724613"/>
          </a:xfrm>
        </p:spPr>
        <p:txBody>
          <a:bodyPr>
            <a:noAutofit/>
          </a:bodyPr>
          <a:lstStyle/>
          <a:p>
            <a:pPr marL="0" indent="0" algn="just">
              <a:buNone/>
            </a:pPr>
            <a:r>
              <a:rPr lang="en-US" sz="1800" dirty="0">
                <a:solidFill>
                  <a:srgbClr val="55575A"/>
                </a:solidFill>
                <a:latin typeface="Roboto Condensed" pitchFamily="34" charset="0"/>
                <a:ea typeface="Roboto Condensed" pitchFamily="34" charset="-122"/>
                <a:cs typeface="Roboto Condensed" pitchFamily="34" charset="-120"/>
              </a:rPr>
              <a:t>This work presents </a:t>
            </a:r>
            <a:r>
              <a:rPr lang="en-US" sz="1800" b="1" dirty="0">
                <a:solidFill>
                  <a:srgbClr val="55575A"/>
                </a:solidFill>
                <a:latin typeface="Roboto Condensed" pitchFamily="34" charset="0"/>
                <a:ea typeface="Roboto Condensed" pitchFamily="34" charset="-122"/>
                <a:cs typeface="Roboto Condensed" pitchFamily="34" charset="-120"/>
              </a:rPr>
              <a:t>PrivLogEdu</a:t>
            </a:r>
            <a:r>
              <a:rPr lang="en-US" sz="1800" dirty="0">
                <a:solidFill>
                  <a:srgbClr val="55575A"/>
                </a:solidFill>
                <a:latin typeface="Roboto Condensed" pitchFamily="34" charset="0"/>
                <a:ea typeface="Roboto Condensed" pitchFamily="34" charset="-122"/>
                <a:cs typeface="Roboto Condensed" pitchFamily="34" charset="-120"/>
              </a:rPr>
              <a:t>, a novel method for real-time engagement detection that supports United Nations Sustainable Development Goal (SDG) 4: Quality Education.</a:t>
            </a:r>
          </a:p>
          <a:p>
            <a:pPr marL="0" indent="0" algn="just">
              <a:buNone/>
            </a:pPr>
            <a:endParaRPr lang="en-US" sz="1800" dirty="0">
              <a:solidFill>
                <a:srgbClr val="55575A"/>
              </a:solidFill>
              <a:latin typeface="Roboto Condensed" pitchFamily="34" charset="0"/>
              <a:ea typeface="Roboto Condensed" pitchFamily="34" charset="-122"/>
              <a:cs typeface="Roboto Condensed" pitchFamily="34" charset="-120"/>
            </a:endParaRPr>
          </a:p>
          <a:p>
            <a:pPr marL="0" indent="0" algn="just">
              <a:buNone/>
            </a:pPr>
            <a:r>
              <a:rPr lang="en-US" sz="1800" dirty="0">
                <a:solidFill>
                  <a:srgbClr val="55575A"/>
                </a:solidFill>
                <a:latin typeface="Roboto Condensed" pitchFamily="34" charset="0"/>
                <a:ea typeface="Roboto Condensed" pitchFamily="34" charset="-122"/>
                <a:cs typeface="Roboto Condensed" pitchFamily="34" charset="-120"/>
              </a:rPr>
              <a:t>It ensures high prediction accuracy and strong privacy protection by using </a:t>
            </a:r>
            <a:r>
              <a:rPr lang="en-US" sz="1800" b="1" dirty="0">
                <a:solidFill>
                  <a:srgbClr val="55575A"/>
                </a:solidFill>
                <a:latin typeface="Roboto Condensed" pitchFamily="34" charset="0"/>
                <a:ea typeface="Roboto Condensed" pitchFamily="34" charset="-122"/>
                <a:cs typeface="Roboto Condensed" pitchFamily="34" charset="-120"/>
              </a:rPr>
              <a:t>non-visual log data</a:t>
            </a:r>
            <a:r>
              <a:rPr lang="en-US" sz="1800" dirty="0">
                <a:solidFill>
                  <a:srgbClr val="55575A"/>
                </a:solidFill>
                <a:latin typeface="Roboto Condensed" pitchFamily="34" charset="0"/>
                <a:ea typeface="Roboto Condensed" pitchFamily="34" charset="-122"/>
                <a:cs typeface="Roboto Condensed" pitchFamily="34" charset="-120"/>
              </a:rPr>
              <a:t> instead of vision-based methods.</a:t>
            </a:r>
            <a:endParaRPr lang="en-US" sz="1800" dirty="0"/>
          </a:p>
          <a:p>
            <a:pPr marL="0" indent="0" algn="just">
              <a:buNone/>
            </a:pPr>
            <a:r>
              <a:rPr lang="en-US" sz="1800" dirty="0">
                <a:solidFill>
                  <a:srgbClr val="55575A"/>
                </a:solidFill>
                <a:latin typeface="Roboto Condensed" pitchFamily="34" charset="0"/>
                <a:ea typeface="Roboto Condensed" pitchFamily="34" charset="-122"/>
                <a:cs typeface="Roboto Condensed" pitchFamily="34" charset="-120"/>
              </a:rPr>
              <a:t>It leverages behavioral logs like problem-solving sequences, time-on-task, and skill-switching patterns to infer engagement levels.</a:t>
            </a:r>
            <a:endParaRPr lang="en-US" sz="1800" dirty="0"/>
          </a:p>
          <a:p>
            <a:pPr marL="0" indent="0" algn="just">
              <a:buNone/>
            </a:pPr>
            <a:r>
              <a:rPr lang="en-US" sz="1800" dirty="0">
                <a:solidFill>
                  <a:srgbClr val="55575A"/>
                </a:solidFill>
                <a:latin typeface="Roboto Condensed" pitchFamily="34" charset="0"/>
                <a:ea typeface="Roboto Condensed" pitchFamily="34" charset="-122"/>
                <a:cs typeface="Roboto Condensed" pitchFamily="34" charset="-120"/>
              </a:rPr>
              <a:t>The pipeline uses preprocessing, feature engineering, Skill2Vec embeddings, and a </a:t>
            </a:r>
            <a:r>
              <a:rPr lang="en-US" sz="1800" b="1" dirty="0">
                <a:solidFill>
                  <a:srgbClr val="55575A"/>
                </a:solidFill>
                <a:latin typeface="Roboto Condensed" pitchFamily="34" charset="0"/>
                <a:ea typeface="Roboto Condensed" pitchFamily="34" charset="-122"/>
                <a:cs typeface="Roboto Condensed" pitchFamily="34" charset="-120"/>
              </a:rPr>
              <a:t>GRU-attention deep neural architecture</a:t>
            </a:r>
            <a:r>
              <a:rPr lang="en-US" sz="1800" dirty="0">
                <a:solidFill>
                  <a:srgbClr val="55575A"/>
                </a:solidFill>
                <a:latin typeface="Roboto Condensed" pitchFamily="34" charset="0"/>
                <a:ea typeface="Roboto Condensed" pitchFamily="34" charset="-122"/>
                <a:cs typeface="Roboto Condensed" pitchFamily="34" charset="-120"/>
              </a:rPr>
              <a:t>.</a:t>
            </a:r>
            <a:endParaRPr lang="en-US" sz="1800" dirty="0"/>
          </a:p>
          <a:p>
            <a:pPr marL="0" indent="0" algn="just">
              <a:buNone/>
            </a:pPr>
            <a:r>
              <a:rPr lang="en-US" sz="1800" dirty="0">
                <a:solidFill>
                  <a:srgbClr val="55575A"/>
                </a:solidFill>
                <a:latin typeface="Roboto Condensed" pitchFamily="34" charset="0"/>
                <a:ea typeface="Roboto Condensed" pitchFamily="34" charset="-122"/>
                <a:cs typeface="Roboto Condensed" pitchFamily="34" charset="-120"/>
              </a:rPr>
              <a:t>The model classifies engagement into three levels (low, moderate, high).</a:t>
            </a:r>
          </a:p>
          <a:p>
            <a:pPr marL="0" indent="0" algn="just">
              <a:buNone/>
            </a:pPr>
            <a:endParaRPr lang="en-US" sz="1800" dirty="0"/>
          </a:p>
          <a:p>
            <a:pPr marL="0" indent="0" algn="just">
              <a:buNone/>
            </a:pPr>
            <a:r>
              <a:rPr lang="en-US" sz="1800" dirty="0">
                <a:solidFill>
                  <a:srgbClr val="000000"/>
                </a:solidFill>
                <a:latin typeface="Roboto Condensed" pitchFamily="34" charset="0"/>
                <a:ea typeface="Roboto Condensed" pitchFamily="34" charset="-122"/>
                <a:cs typeface="Roboto Condensed" pitchFamily="34" charset="-120"/>
              </a:rPr>
              <a:t>       It achieved an accuracy of </a:t>
            </a:r>
            <a:r>
              <a:rPr lang="en-US" sz="1800" b="1" dirty="0">
                <a:solidFill>
                  <a:srgbClr val="1E1E1A"/>
                </a:solidFill>
                <a:latin typeface="Roboto Condensed" pitchFamily="34" charset="0"/>
                <a:ea typeface="Roboto Condensed" pitchFamily="34" charset="-122"/>
                <a:cs typeface="Roboto Condensed" pitchFamily="34" charset="-120"/>
              </a:rPr>
              <a:t>99.91%</a:t>
            </a:r>
            <a:r>
              <a:rPr lang="en-US" sz="1800" dirty="0">
                <a:solidFill>
                  <a:srgbClr val="000000"/>
                </a:solidFill>
                <a:latin typeface="Roboto Condensed" pitchFamily="34" charset="0"/>
                <a:ea typeface="Roboto Condensed" pitchFamily="34" charset="-122"/>
                <a:cs typeface="Roboto Condensed" pitchFamily="34" charset="-120"/>
              </a:rPr>
              <a:t> on the EdNet-KT1 dataset, outperforming baseline LSTM and</a:t>
            </a:r>
          </a:p>
          <a:p>
            <a:pPr marL="0" indent="0" algn="just">
              <a:buNone/>
            </a:pPr>
            <a:r>
              <a:rPr lang="en-US" sz="1800" dirty="0">
                <a:solidFill>
                  <a:srgbClr val="000000"/>
                </a:solidFill>
                <a:latin typeface="Roboto Condensed" pitchFamily="34" charset="0"/>
                <a:ea typeface="Roboto Condensed" pitchFamily="34" charset="-122"/>
                <a:cs typeface="Roboto Condensed" pitchFamily="34" charset="-120"/>
              </a:rPr>
              <a:t>       Transformer models.</a:t>
            </a:r>
            <a:endParaRPr lang="en-US" sz="1800" dirty="0"/>
          </a:p>
          <a:p>
            <a:pPr marL="0" indent="0" algn="just">
              <a:buNone/>
            </a:pPr>
            <a:endParaRPr lang="en-US" sz="1800" dirty="0">
              <a:solidFill>
                <a:srgbClr val="55575A"/>
              </a:solidFill>
              <a:latin typeface="Roboto Condensed" pitchFamily="34" charset="0"/>
              <a:ea typeface="Roboto Condensed" pitchFamily="34" charset="-122"/>
              <a:cs typeface="Roboto Condensed" pitchFamily="34" charset="-120"/>
            </a:endParaRPr>
          </a:p>
          <a:p>
            <a:pPr marL="0" indent="0" algn="just">
              <a:buNone/>
            </a:pPr>
            <a:endParaRPr lang="en-US" sz="1800" dirty="0"/>
          </a:p>
          <a:p>
            <a:pPr marL="0" indent="0" algn="just">
              <a:buNone/>
            </a:pPr>
            <a:endParaRPr lang="en-US" sz="18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10-11-2025</a:t>
            </a: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01        Batch No. CB6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3</a:t>
            </a:fld>
            <a:endParaRPr lang="en-US">
              <a:latin typeface="Times New Roman" panose="02020603050405020304" pitchFamily="18" charset="0"/>
              <a:cs typeface="Times New Roman" panose="02020603050405020304" pitchFamily="18" charset="0"/>
            </a:endParaRPr>
          </a:p>
        </p:txBody>
      </p:sp>
      <p:pic>
        <p:nvPicPr>
          <p:cNvPr id="2" name="Image 0">
            <a:extLst>
              <a:ext uri="{FF2B5EF4-FFF2-40B4-BE49-F238E27FC236}">
                <a16:creationId xmlns:a16="http://schemas.microsoft.com/office/drawing/2014/main" id="{753C48A8-3048-138C-D5C2-3D3CE55B5F6B}"/>
              </a:ext>
            </a:extLst>
          </p:cNvPr>
          <p:cNvPicPr>
            <a:picLocks noChangeAspect="1"/>
          </p:cNvPicPr>
          <p:nvPr/>
        </p:nvPicPr>
        <p:blipFill>
          <a:blip r:embed="rId2"/>
          <a:stretch>
            <a:fillRect/>
          </a:stretch>
        </p:blipFill>
        <p:spPr>
          <a:xfrm>
            <a:off x="451620" y="4900012"/>
            <a:ext cx="283488" cy="226814"/>
          </a:xfrm>
          <a:prstGeom prst="rect">
            <a:avLst/>
          </a:prstGeom>
        </p:spPr>
      </p:pic>
    </p:spTree>
    <p:extLst>
      <p:ext uri="{BB962C8B-B14F-4D97-AF65-F5344CB8AC3E}">
        <p14:creationId xmlns:p14="http://schemas.microsoft.com/office/powerpoint/2010/main" val="1369108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27A75D-ED80-2379-0CC8-154B881ACC19}"/>
              </a:ext>
            </a:extLst>
          </p:cNvPr>
          <p:cNvSpPr>
            <a:spLocks noGrp="1"/>
          </p:cNvSpPr>
          <p:nvPr>
            <p:ph type="dt" sz="half" idx="10"/>
          </p:nvPr>
        </p:nvSpPr>
        <p:spPr/>
        <p:txBody>
          <a:bodyPr/>
          <a:lstStyle/>
          <a:p>
            <a:r>
              <a:rPr lang="en-IN" dirty="0"/>
              <a:t>10-11-2025</a:t>
            </a:r>
          </a:p>
        </p:txBody>
      </p:sp>
      <p:sp>
        <p:nvSpPr>
          <p:cNvPr id="3" name="Footer Placeholder 2">
            <a:extLst>
              <a:ext uri="{FF2B5EF4-FFF2-40B4-BE49-F238E27FC236}">
                <a16:creationId xmlns:a16="http://schemas.microsoft.com/office/drawing/2014/main" id="{901CD390-02BD-98F8-E83B-B048C2932179}"/>
              </a:ext>
            </a:extLst>
          </p:cNvPr>
          <p:cNvSpPr>
            <a:spLocks noGrp="1"/>
          </p:cNvSpPr>
          <p:nvPr>
            <p:ph type="ftr" sz="quarter" idx="11"/>
          </p:nvPr>
        </p:nvSpPr>
        <p:spPr/>
        <p:txBody>
          <a:bodyPr/>
          <a:lstStyle/>
          <a:p>
            <a:r>
              <a:rPr lang="en-US" dirty="0"/>
              <a:t>Review No. 01        Batch No. CB6           Department of CSE</a:t>
            </a:r>
            <a:endParaRPr lang="en-IN" dirty="0"/>
          </a:p>
        </p:txBody>
      </p:sp>
      <p:sp>
        <p:nvSpPr>
          <p:cNvPr id="4" name="Slide Number Placeholder 3">
            <a:extLst>
              <a:ext uri="{FF2B5EF4-FFF2-40B4-BE49-F238E27FC236}">
                <a16:creationId xmlns:a16="http://schemas.microsoft.com/office/drawing/2014/main" id="{D269D65A-2919-E398-44C2-99A1397D99F4}"/>
              </a:ext>
            </a:extLst>
          </p:cNvPr>
          <p:cNvSpPr>
            <a:spLocks noGrp="1"/>
          </p:cNvSpPr>
          <p:nvPr>
            <p:ph type="sldNum" sz="quarter" idx="12"/>
          </p:nvPr>
        </p:nvSpPr>
        <p:spPr/>
        <p:txBody>
          <a:bodyPr/>
          <a:lstStyle/>
          <a:p>
            <a:fld id="{65DCBD69-296B-4D7C-AF62-9B588FC78772}" type="slidenum">
              <a:rPr lang="en-IN" smtClean="0"/>
              <a:t>4</a:t>
            </a:fld>
            <a:endParaRPr lang="en-IN"/>
          </a:p>
        </p:txBody>
      </p:sp>
      <p:sp>
        <p:nvSpPr>
          <p:cNvPr id="5" name="Content Placeholder 8">
            <a:extLst>
              <a:ext uri="{FF2B5EF4-FFF2-40B4-BE49-F238E27FC236}">
                <a16:creationId xmlns:a16="http://schemas.microsoft.com/office/drawing/2014/main" id="{C0EBBDFB-F1D7-86FD-6536-AD907560A560}"/>
              </a:ext>
            </a:extLst>
          </p:cNvPr>
          <p:cNvSpPr txBox="1">
            <a:spLocks/>
          </p:cNvSpPr>
          <p:nvPr/>
        </p:nvSpPr>
        <p:spPr>
          <a:xfrm>
            <a:off x="838200" y="1595534"/>
            <a:ext cx="10515600" cy="435749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dirty="0">
                <a:solidFill>
                  <a:srgbClr val="55575A"/>
                </a:solidFill>
                <a:latin typeface="Roboto Condensed" pitchFamily="34" charset="0"/>
                <a:ea typeface="Roboto Condensed" pitchFamily="34" charset="-122"/>
                <a:cs typeface="Roboto Condensed" pitchFamily="34" charset="-120"/>
              </a:rPr>
              <a:t>AI integration</a:t>
            </a:r>
            <a:r>
              <a:rPr lang="en-US" sz="1800" dirty="0">
                <a:solidFill>
                  <a:srgbClr val="55575A"/>
                </a:solidFill>
                <a:latin typeface="Roboto Condensed" pitchFamily="34" charset="0"/>
                <a:ea typeface="Roboto Condensed" pitchFamily="34" charset="-122"/>
                <a:cs typeface="Roboto Condensed" pitchFamily="34" charset="-120"/>
              </a:rPr>
              <a:t> has significantly altered the interaction between learners and instructors in virtual learning environments.</a:t>
            </a:r>
            <a:endParaRPr lang="en-US" sz="1800" dirty="0"/>
          </a:p>
          <a:p>
            <a:pPr marL="0" indent="0">
              <a:buNone/>
            </a:pPr>
            <a:r>
              <a:rPr lang="en-US" sz="1800" b="1" dirty="0">
                <a:solidFill>
                  <a:srgbClr val="55575A"/>
                </a:solidFill>
                <a:latin typeface="Roboto Condensed" pitchFamily="34" charset="0"/>
                <a:ea typeface="Roboto Condensed" pitchFamily="34" charset="-122"/>
                <a:cs typeface="Roboto Condensed" pitchFamily="34" charset="-120"/>
              </a:rPr>
              <a:t>Effective engagement monitoring</a:t>
            </a:r>
            <a:r>
              <a:rPr lang="en-US" sz="1800" dirty="0">
                <a:solidFill>
                  <a:srgbClr val="55575A"/>
                </a:solidFill>
                <a:latin typeface="Roboto Condensed" pitchFamily="34" charset="0"/>
                <a:ea typeface="Roboto Condensed" pitchFamily="34" charset="-122"/>
                <a:cs typeface="Roboto Condensed" pitchFamily="34" charset="-120"/>
              </a:rPr>
              <a:t> is essential for realizing SDG 4 (inclusive and equitable quality education).</a:t>
            </a:r>
            <a:endParaRPr lang="en-US" sz="1800" dirty="0"/>
          </a:p>
          <a:p>
            <a:pPr marL="0" indent="0">
              <a:buNone/>
            </a:pPr>
            <a:r>
              <a:rPr lang="en-US" sz="2400" b="1" dirty="0">
                <a:solidFill>
                  <a:srgbClr val="0C0D0F"/>
                </a:solidFill>
                <a:latin typeface="Hubot Sans Bold" pitchFamily="34" charset="0"/>
                <a:ea typeface="Hubot Sans Bold" pitchFamily="34" charset="-122"/>
                <a:cs typeface="Hubot Sans Bold" pitchFamily="34" charset="-120"/>
              </a:rPr>
              <a:t>The Challenge</a:t>
            </a:r>
            <a:endParaRPr lang="en-US" sz="2400" dirty="0"/>
          </a:p>
          <a:p>
            <a:pPr marL="0" indent="0">
              <a:buNone/>
            </a:pPr>
            <a:r>
              <a:rPr lang="en-US" sz="1800" dirty="0">
                <a:solidFill>
                  <a:srgbClr val="55575A"/>
                </a:solidFill>
                <a:latin typeface="Roboto Condensed" pitchFamily="34" charset="0"/>
                <a:ea typeface="Roboto Condensed" pitchFamily="34" charset="-122"/>
                <a:cs typeface="Roboto Condensed" pitchFamily="34" charset="-120"/>
              </a:rPr>
              <a:t>Traditional systems use visual indicators like facial expressions and eye-tracking. These visual methods pose </a:t>
            </a:r>
            <a:r>
              <a:rPr lang="en-US" sz="1800" b="1" dirty="0">
                <a:solidFill>
                  <a:srgbClr val="1E1E1A"/>
                </a:solidFill>
                <a:latin typeface="Roboto Condensed" pitchFamily="34" charset="0"/>
                <a:ea typeface="Roboto Condensed" pitchFamily="34" charset="-122"/>
                <a:cs typeface="Roboto Condensed" pitchFamily="34" charset="-120"/>
              </a:rPr>
              <a:t>major privacy challenges, implementation costs, and adaptability issues</a:t>
            </a:r>
            <a:r>
              <a:rPr lang="en-US" sz="1800" dirty="0">
                <a:solidFill>
                  <a:srgbClr val="55575A"/>
                </a:solidFill>
                <a:latin typeface="Roboto Condensed" pitchFamily="34" charset="0"/>
                <a:ea typeface="Roboto Condensed" pitchFamily="34" charset="-122"/>
                <a:cs typeface="Roboto Condensed" pitchFamily="34" charset="-120"/>
              </a:rPr>
              <a:t>. Visual data collection often conflicts with institutional policies and ethical principles.</a:t>
            </a:r>
          </a:p>
          <a:p>
            <a:pPr marL="0" indent="0">
              <a:buNone/>
            </a:pPr>
            <a:r>
              <a:rPr lang="en-US" sz="2400" b="1" dirty="0">
                <a:solidFill>
                  <a:srgbClr val="0C0D0F"/>
                </a:solidFill>
                <a:latin typeface="Hubot Sans Bold" pitchFamily="34" charset="0"/>
                <a:ea typeface="Hubot Sans Bold" pitchFamily="34" charset="-122"/>
                <a:cs typeface="Hubot Sans Bold" pitchFamily="34" charset="-120"/>
              </a:rPr>
              <a:t>The Solution</a:t>
            </a:r>
            <a:endParaRPr lang="en-US" sz="2400" dirty="0"/>
          </a:p>
          <a:p>
            <a:pPr marL="0" indent="0">
              <a:buNone/>
            </a:pPr>
            <a:r>
              <a:rPr lang="en-US" sz="1800" b="1" dirty="0">
                <a:solidFill>
                  <a:srgbClr val="55575A"/>
                </a:solidFill>
                <a:latin typeface="Roboto Condensed" pitchFamily="34" charset="0"/>
                <a:ea typeface="Roboto Condensed" pitchFamily="34" charset="-122"/>
                <a:cs typeface="Roboto Condensed" pitchFamily="34" charset="-120"/>
              </a:rPr>
              <a:t>Log-based behavioral data</a:t>
            </a:r>
            <a:r>
              <a:rPr lang="en-US" sz="1800" dirty="0">
                <a:solidFill>
                  <a:srgbClr val="55575A"/>
                </a:solidFill>
                <a:latin typeface="Roboto Condensed" pitchFamily="34" charset="0"/>
                <a:ea typeface="Roboto Condensed" pitchFamily="34" charset="-122"/>
                <a:cs typeface="Roboto Condensed" pitchFamily="34" charset="-120"/>
              </a:rPr>
              <a:t> (response times, skill switching) is a credible, non-intrusive source for understanding student engagement.</a:t>
            </a:r>
          </a:p>
          <a:p>
            <a:pPr marL="0" indent="0">
              <a:buNone/>
            </a:pPr>
            <a:r>
              <a:rPr lang="en-US" sz="1800" dirty="0">
                <a:solidFill>
                  <a:srgbClr val="55575A"/>
                </a:solidFill>
                <a:latin typeface="Roboto Condensed" pitchFamily="34" charset="0"/>
                <a:ea typeface="Roboto Condensed" pitchFamily="34" charset="-122"/>
                <a:cs typeface="Roboto Condensed" pitchFamily="34" charset="-120"/>
              </a:rPr>
              <a:t>PrivLogEdu applies a </a:t>
            </a:r>
            <a:r>
              <a:rPr lang="en-US" sz="1800" b="1" dirty="0">
                <a:solidFill>
                  <a:srgbClr val="55575A"/>
                </a:solidFill>
                <a:latin typeface="Roboto Condensed" pitchFamily="34" charset="0"/>
                <a:ea typeface="Roboto Condensed" pitchFamily="34" charset="-122"/>
                <a:cs typeface="Roboto Condensed" pitchFamily="34" charset="-120"/>
              </a:rPr>
              <a:t>GRU-attention model</a:t>
            </a:r>
            <a:r>
              <a:rPr lang="en-US" sz="1800" dirty="0">
                <a:solidFill>
                  <a:srgbClr val="55575A"/>
                </a:solidFill>
                <a:latin typeface="Roboto Condensed" pitchFamily="34" charset="0"/>
                <a:ea typeface="Roboto Condensed" pitchFamily="34" charset="-122"/>
                <a:cs typeface="Roboto Condensed" pitchFamily="34" charset="-120"/>
              </a:rPr>
              <a:t> to these non-visual logs to achieve high accuracy while addressing ethical and privacy concerns.</a:t>
            </a:r>
            <a:endParaRPr lang="en-US" sz="1800" dirty="0"/>
          </a:p>
          <a:p>
            <a:pPr marL="0" indent="0">
              <a:buNone/>
            </a:pPr>
            <a:endParaRPr lang="en-US" sz="1800" dirty="0">
              <a:solidFill>
                <a:srgbClr val="55575A"/>
              </a:solidFill>
              <a:latin typeface="Roboto Condensed" pitchFamily="34" charset="0"/>
              <a:ea typeface="Roboto Condensed" pitchFamily="34" charset="-122"/>
              <a:cs typeface="Times New Roman" panose="02020603050405020304" pitchFamily="18" charset="0"/>
            </a:endParaRPr>
          </a:p>
        </p:txBody>
      </p:sp>
      <p:sp>
        <p:nvSpPr>
          <p:cNvPr id="6" name="Title 7">
            <a:extLst>
              <a:ext uri="{FF2B5EF4-FFF2-40B4-BE49-F238E27FC236}">
                <a16:creationId xmlns:a16="http://schemas.microsoft.com/office/drawing/2014/main" id="{A100A9B4-5A99-8C93-C9BA-F78D1C00F7CA}"/>
              </a:ext>
            </a:extLst>
          </p:cNvPr>
          <p:cNvSpPr txBox="1">
            <a:spLocks/>
          </p:cNvSpPr>
          <p:nvPr/>
        </p:nvSpPr>
        <p:spPr>
          <a:xfrm>
            <a:off x="1180618" y="579027"/>
            <a:ext cx="10173182" cy="91410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latin typeface="Times New Roman" panose="02020603050405020304" pitchFamily="18" charset="0"/>
                <a:cs typeface="Times New Roman" panose="02020603050405020304" pitchFamily="18" charset="0"/>
              </a:rPr>
              <a:t>INTRODUCTION</a:t>
            </a:r>
          </a:p>
        </p:txBody>
      </p:sp>
      <p:pic>
        <p:nvPicPr>
          <p:cNvPr id="7" name="Picture 6">
            <a:extLst>
              <a:ext uri="{FF2B5EF4-FFF2-40B4-BE49-F238E27FC236}">
                <a16:creationId xmlns:a16="http://schemas.microsoft.com/office/drawing/2014/main" id="{C4B45E86-D912-EA16-18B8-91888C9DA29C}"/>
              </a:ext>
            </a:extLst>
          </p:cNvPr>
          <p:cNvPicPr>
            <a:picLocks noChangeAspect="1"/>
          </p:cNvPicPr>
          <p:nvPr/>
        </p:nvPicPr>
        <p:blipFill>
          <a:blip r:embed="rId2"/>
          <a:stretch>
            <a:fillRect/>
          </a:stretch>
        </p:blipFill>
        <p:spPr>
          <a:xfrm>
            <a:off x="0" y="0"/>
            <a:ext cx="3762900" cy="579027"/>
          </a:xfrm>
          <a:prstGeom prst="rect">
            <a:avLst/>
          </a:prstGeom>
        </p:spPr>
      </p:pic>
    </p:spTree>
    <p:extLst>
      <p:ext uri="{BB962C8B-B14F-4D97-AF65-F5344CB8AC3E}">
        <p14:creationId xmlns:p14="http://schemas.microsoft.com/office/powerpoint/2010/main" val="944533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08781-C5BE-4844-44C7-E22411AEF82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244FE8A-B6B4-6EE6-F5FC-2C43AFB89AEA}"/>
              </a:ext>
            </a:extLst>
          </p:cNvPr>
          <p:cNvSpPr>
            <a:spLocks noGrp="1"/>
          </p:cNvSpPr>
          <p:nvPr>
            <p:ph type="title"/>
          </p:nvPr>
        </p:nvSpPr>
        <p:spPr>
          <a:xfrm>
            <a:off x="1180618" y="417682"/>
            <a:ext cx="10173182" cy="562154"/>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LITERATURE SURVEY</a:t>
            </a:r>
          </a:p>
        </p:txBody>
      </p:sp>
      <p:sp>
        <p:nvSpPr>
          <p:cNvPr id="9" name="Content Placeholder 8">
            <a:extLst>
              <a:ext uri="{FF2B5EF4-FFF2-40B4-BE49-F238E27FC236}">
                <a16:creationId xmlns:a16="http://schemas.microsoft.com/office/drawing/2014/main" id="{1896AEA7-233C-BDA9-881D-87EDF4B2C5F0}"/>
              </a:ext>
            </a:extLst>
          </p:cNvPr>
          <p:cNvSpPr>
            <a:spLocks noGrp="1"/>
          </p:cNvSpPr>
          <p:nvPr>
            <p:ph idx="1"/>
          </p:nvPr>
        </p:nvSpPr>
        <p:spPr/>
        <p:txBody>
          <a:bodyPr>
            <a:normAutofit/>
          </a:bodyPr>
          <a:lstStyle/>
          <a:p>
            <a:pPr marL="0" indent="0">
              <a:buNone/>
            </a:pP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CE957D3B-CB82-3E17-0AA5-A4BB80ACDDD7}"/>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10-11-2025</a:t>
            </a:r>
          </a:p>
        </p:txBody>
      </p:sp>
      <p:sp>
        <p:nvSpPr>
          <p:cNvPr id="6" name="Footer Placeholder 5">
            <a:extLst>
              <a:ext uri="{FF2B5EF4-FFF2-40B4-BE49-F238E27FC236}">
                <a16:creationId xmlns:a16="http://schemas.microsoft.com/office/drawing/2014/main" id="{1B24FC51-9C10-BD50-EF68-E25A9F4ED15B}"/>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01        Batch No. CB6           Department of CSE</a:t>
            </a:r>
          </a:p>
        </p:txBody>
      </p:sp>
      <p:sp>
        <p:nvSpPr>
          <p:cNvPr id="7" name="Slide Number Placeholder 6">
            <a:extLst>
              <a:ext uri="{FF2B5EF4-FFF2-40B4-BE49-F238E27FC236}">
                <a16:creationId xmlns:a16="http://schemas.microsoft.com/office/drawing/2014/main" id="{DC0CA0D3-5B10-FC72-9025-6CAE750F3711}"/>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5</a:t>
            </a:fld>
            <a:endParaRPr lang="en-US" dirty="0">
              <a:latin typeface="Times New Roman" panose="02020603050405020304" pitchFamily="18" charset="0"/>
              <a:cs typeface="Times New Roman" panose="02020603050405020304" pitchFamily="18" charset="0"/>
            </a:endParaRPr>
          </a:p>
        </p:txBody>
      </p:sp>
      <p:sp>
        <p:nvSpPr>
          <p:cNvPr id="10" name="Content Placeholder 8">
            <a:extLst>
              <a:ext uri="{FF2B5EF4-FFF2-40B4-BE49-F238E27FC236}">
                <a16:creationId xmlns:a16="http://schemas.microsoft.com/office/drawing/2014/main" id="{05BE395D-289E-B803-987A-AC6D7E3CDBA9}"/>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latin typeface="Times New Roman" panose="02020603050405020304" pitchFamily="18" charset="0"/>
              <a:cs typeface="Times New Roman" panose="02020603050405020304" pitchFamily="18" charset="0"/>
            </a:endParaRPr>
          </a:p>
        </p:txBody>
      </p:sp>
      <p:graphicFrame>
        <p:nvGraphicFramePr>
          <p:cNvPr id="3" name="Table 3">
            <a:extLst>
              <a:ext uri="{FF2B5EF4-FFF2-40B4-BE49-F238E27FC236}">
                <a16:creationId xmlns:a16="http://schemas.microsoft.com/office/drawing/2014/main" id="{7E8FF2A2-31EB-C0C2-5B81-6FF8E050C2FE}"/>
              </a:ext>
            </a:extLst>
          </p:cNvPr>
          <p:cNvGraphicFramePr>
            <a:graphicFrameLocks noGrp="1"/>
          </p:cNvGraphicFramePr>
          <p:nvPr>
            <p:extLst>
              <p:ext uri="{D42A27DB-BD31-4B8C-83A1-F6EECF244321}">
                <p14:modId xmlns:p14="http://schemas.microsoft.com/office/powerpoint/2010/main" val="3834660208"/>
              </p:ext>
            </p:extLst>
          </p:nvPr>
        </p:nvGraphicFramePr>
        <p:xfrm>
          <a:off x="223935" y="1073022"/>
          <a:ext cx="11821885" cy="5310828"/>
        </p:xfrm>
        <a:graphic>
          <a:graphicData uri="http://schemas.openxmlformats.org/drawingml/2006/table">
            <a:tbl>
              <a:tblPr firstRow="1" bandRow="1">
                <a:tableStyleId>{17292A2E-F333-43FB-9621-5CBBE7FDCDCB}</a:tableStyleId>
              </a:tblPr>
              <a:tblGrid>
                <a:gridCol w="681134">
                  <a:extLst>
                    <a:ext uri="{9D8B030D-6E8A-4147-A177-3AD203B41FA5}">
                      <a16:colId xmlns:a16="http://schemas.microsoft.com/office/drawing/2014/main" val="166576671"/>
                    </a:ext>
                  </a:extLst>
                </a:gridCol>
                <a:gridCol w="3100753">
                  <a:extLst>
                    <a:ext uri="{9D8B030D-6E8A-4147-A177-3AD203B41FA5}">
                      <a16:colId xmlns:a16="http://schemas.microsoft.com/office/drawing/2014/main" val="946789180"/>
                    </a:ext>
                  </a:extLst>
                </a:gridCol>
                <a:gridCol w="4282905">
                  <a:extLst>
                    <a:ext uri="{9D8B030D-6E8A-4147-A177-3AD203B41FA5}">
                      <a16:colId xmlns:a16="http://schemas.microsoft.com/office/drawing/2014/main" val="3469305604"/>
                    </a:ext>
                  </a:extLst>
                </a:gridCol>
                <a:gridCol w="3757093">
                  <a:extLst>
                    <a:ext uri="{9D8B030D-6E8A-4147-A177-3AD203B41FA5}">
                      <a16:colId xmlns:a16="http://schemas.microsoft.com/office/drawing/2014/main" val="1601472594"/>
                    </a:ext>
                  </a:extLst>
                </a:gridCol>
              </a:tblGrid>
              <a:tr h="682336">
                <a:tc>
                  <a:txBody>
                    <a:bodyPr/>
                    <a:lstStyle/>
                    <a:p>
                      <a:pPr algn="ctr"/>
                      <a:r>
                        <a:rPr lang="en-US" sz="2400" dirty="0">
                          <a:solidFill>
                            <a:schemeClr val="tx1"/>
                          </a:solidFill>
                        </a:rPr>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Author / 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Methodology</a:t>
                      </a:r>
                      <a:r>
                        <a:rPr lang="en-US" sz="1600" dirty="0">
                          <a:solidFill>
                            <a:schemeClr val="tx1"/>
                          </a:solidFill>
                        </a:rPr>
                        <a:t> </a:t>
                      </a:r>
                      <a:r>
                        <a:rPr lang="en-US" sz="2400" dirty="0">
                          <a:solidFill>
                            <a:schemeClr val="tx1"/>
                          </a:solidFill>
                        </a:rPr>
                        <a:t>Adapted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chemeClr val="tx1"/>
                          </a:solidFill>
                        </a:rPr>
                        <a:t>Key</a:t>
                      </a:r>
                      <a:r>
                        <a:rPr lang="en-US" sz="1600" dirty="0">
                          <a:solidFill>
                            <a:schemeClr val="tx1"/>
                          </a:solidFill>
                        </a:rPr>
                        <a:t> </a:t>
                      </a:r>
                      <a:r>
                        <a:rPr lang="en-US" sz="2400" dirty="0">
                          <a:solidFill>
                            <a:schemeClr val="tx1"/>
                          </a:solidFill>
                        </a:rPr>
                        <a:t>Findings</a:t>
                      </a:r>
                      <a:endParaRPr lang="en-US" sz="2400" dirty="0"/>
                    </a:p>
                    <a:p>
                      <a:pPr algn="ctr"/>
                      <a:endParaRPr lang="en-US"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7051210"/>
                  </a:ext>
                </a:extLst>
              </a:tr>
              <a:tr h="1305338">
                <a:tc>
                  <a:txBody>
                    <a:bodyPr/>
                    <a:lstStyle/>
                    <a:p>
                      <a:pPr algn="just"/>
                      <a:endParaRPr lang="en-US" sz="2000" dirty="0"/>
                    </a:p>
                    <a:p>
                      <a:pPr algn="just"/>
                      <a:r>
                        <a:rPr lang="en-US" sz="20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2000" dirty="0">
                        <a:solidFill>
                          <a:srgbClr val="55575A"/>
                        </a:solidFill>
                        <a:latin typeface="Roboto Condensed" pitchFamily="34" charset="0"/>
                        <a:ea typeface="Roboto Condensed" pitchFamily="34" charset="-122"/>
                        <a:cs typeface="Roboto Condensed" pitchFamily="34" charset="-12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dirty="0">
                          <a:solidFill>
                            <a:srgbClr val="55575A"/>
                          </a:solidFill>
                          <a:latin typeface="Roboto Condensed" pitchFamily="34" charset="0"/>
                          <a:ea typeface="Roboto Condensed" pitchFamily="34" charset="-122"/>
                          <a:cs typeface="Roboto Condensed" pitchFamily="34" charset="-120"/>
                        </a:rPr>
                        <a:t>Kumar et al. (2025)</a:t>
                      </a:r>
                      <a:endParaRPr lang="en-US" sz="2000" dirty="0"/>
                    </a:p>
                    <a:p>
                      <a:pPr marL="0" marR="0" indent="0" algn="just" defTabSz="914400" rtl="0" eaLnBrk="1" fontAlgn="auto" latinLnBrk="0" hangingPunct="1">
                        <a:lnSpc>
                          <a:spcPct val="100000"/>
                        </a:lnSpc>
                        <a:spcBef>
                          <a:spcPts val="0"/>
                        </a:spcBef>
                        <a:spcAft>
                          <a:spcPts val="0"/>
                        </a:spcAft>
                        <a:buClrTx/>
                        <a:buSzTx/>
                        <a:buFontTx/>
                        <a:buNone/>
                        <a:tabLst/>
                        <a:defRPr/>
                      </a:pP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a:t>
                      </a:r>
                      <a:r>
                        <a:rPr lang="en-US" sz="1400" dirty="0">
                          <a:solidFill>
                            <a:srgbClr val="55575A"/>
                          </a:solidFill>
                          <a:latin typeface="Roboto Condensed" pitchFamily="34" charset="0"/>
                          <a:ea typeface="Roboto Condensed" pitchFamily="34" charset="-122"/>
                          <a:cs typeface="Roboto Condensed" pitchFamily="34" charset="-120"/>
                        </a:rPr>
                        <a:t> </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dirty="0">
                          <a:solidFill>
                            <a:srgbClr val="55575A"/>
                          </a:solidFill>
                          <a:latin typeface="Roboto Condensed" pitchFamily="34" charset="0"/>
                          <a:ea typeface="Roboto Condensed" pitchFamily="34" charset="-122"/>
                          <a:cs typeface="Roboto Condensed" pitchFamily="34" charset="-120"/>
                        </a:rPr>
                        <a:t>Clickstream data + temporal modeling</a:t>
                      </a:r>
                      <a:endParaRPr lang="en-US" sz="2000" dirty="0"/>
                    </a:p>
                    <a:p>
                      <a:pPr algn="just"/>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400" kern="1200" dirty="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rgbClr val="55575A"/>
                          </a:solidFill>
                          <a:latin typeface="Roboto Condensed" pitchFamily="34" charset="0"/>
                          <a:ea typeface="Roboto Condensed" pitchFamily="34" charset="-122"/>
                          <a:cs typeface="Roboto Condensed" pitchFamily="34" charset="-120"/>
                        </a:rPr>
                        <a:t>Clickstream data + temporal modeling</a:t>
                      </a:r>
                      <a:endParaRPr lang="en-US" sz="2000" dirty="0"/>
                    </a:p>
                    <a:p>
                      <a:br>
                        <a:rPr lang="en-US" sz="1400" dirty="0"/>
                      </a:b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925414"/>
                  </a:ext>
                </a:extLst>
              </a:tr>
              <a:tr h="1691005">
                <a:tc>
                  <a:txBody>
                    <a:bodyPr/>
                    <a:lstStyle/>
                    <a:p>
                      <a:pPr algn="just"/>
                      <a:endParaRPr lang="en-US" sz="2000" dirty="0"/>
                    </a:p>
                    <a:p>
                      <a:pPr algn="just"/>
                      <a:r>
                        <a:rPr lang="en-US" sz="20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lang="en-US" sz="1400" dirty="0">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dirty="0">
                          <a:solidFill>
                            <a:srgbClr val="55575A"/>
                          </a:solidFill>
                          <a:latin typeface="Roboto Condensed" pitchFamily="34" charset="0"/>
                          <a:ea typeface="Roboto Condensed" pitchFamily="34" charset="-122"/>
                          <a:cs typeface="Roboto Condensed" pitchFamily="34" charset="-120"/>
                        </a:rPr>
                        <a:t>Li et al. (2025)</a:t>
                      </a:r>
                      <a:endParaRPr lang="en-US" sz="2000" dirty="0"/>
                    </a:p>
                    <a:p>
                      <a:pPr marL="0" marR="0" indent="0" algn="just" defTabSz="914400" rtl="0" eaLnBrk="1" fontAlgn="auto" latinLnBrk="0" hangingPunct="1">
                        <a:lnSpc>
                          <a:spcPct val="100000"/>
                        </a:lnSpc>
                        <a:spcBef>
                          <a:spcPts val="0"/>
                        </a:spcBef>
                        <a:spcAft>
                          <a:spcPts val="0"/>
                        </a:spcAft>
                        <a:buClrTx/>
                        <a:buSzTx/>
                        <a:buFontTx/>
                        <a:buNone/>
                        <a:tabLst/>
                        <a:defRPr/>
                      </a:pP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endParaRPr lang="en-US" sz="1400" dirty="0">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dirty="0">
                          <a:solidFill>
                            <a:srgbClr val="55575A"/>
                          </a:solidFill>
                          <a:latin typeface="Roboto Condensed" pitchFamily="34" charset="0"/>
                          <a:ea typeface="Roboto Condensed" pitchFamily="34" charset="-122"/>
                          <a:cs typeface="Roboto Condensed" pitchFamily="34" charset="-120"/>
                        </a:rPr>
                        <a:t>Federated learning framework using interaction logs</a:t>
                      </a:r>
                      <a:endParaRPr lang="en-US" sz="2000" dirty="0"/>
                    </a:p>
                    <a:p>
                      <a:pPr algn="just"/>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sz="14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solidFill>
                            <a:srgbClr val="55575A"/>
                          </a:solidFill>
                          <a:latin typeface="Roboto Condensed" pitchFamily="34" charset="0"/>
                          <a:ea typeface="Roboto Condensed" pitchFamily="34" charset="-122"/>
                          <a:cs typeface="Roboto Condensed" pitchFamily="34" charset="-120"/>
                        </a:rPr>
                        <a:t>Predicted learners' attention spans while adhering to institutional data privacy regulations</a:t>
                      </a:r>
                      <a:endParaRPr lang="en-US" sz="2000" dirty="0"/>
                    </a:p>
                    <a:p>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340125"/>
                  </a:ext>
                </a:extLst>
              </a:tr>
              <a:tr h="1577663">
                <a:tc>
                  <a:txBody>
                    <a:bodyPr/>
                    <a:lstStyle/>
                    <a:p>
                      <a:pPr algn="just"/>
                      <a:endParaRPr lang="en-US" sz="2000" dirty="0"/>
                    </a:p>
                    <a:p>
                      <a:pPr algn="just"/>
                      <a:r>
                        <a:rPr lang="en-US" sz="20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lang="en-US" sz="1400" dirty="0">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dirty="0">
                          <a:solidFill>
                            <a:srgbClr val="55575A"/>
                          </a:solidFill>
                          <a:latin typeface="Roboto Condensed" pitchFamily="34" charset="0"/>
                          <a:ea typeface="Roboto Condensed" pitchFamily="34" charset="-122"/>
                          <a:cs typeface="Roboto Condensed" pitchFamily="34" charset="-120"/>
                        </a:rPr>
                        <a:t>Lee et al. (2025)</a:t>
                      </a:r>
                      <a:endParaRPr lang="en-US" sz="2000" dirty="0"/>
                    </a:p>
                    <a:p>
                      <a:pPr marL="0" marR="0" indent="0" algn="just" defTabSz="914400" rtl="0" eaLnBrk="1" fontAlgn="auto" latinLnBrk="0" hangingPunct="1">
                        <a:lnSpc>
                          <a:spcPct val="100000"/>
                        </a:lnSpc>
                        <a:spcBef>
                          <a:spcPts val="0"/>
                        </a:spcBef>
                        <a:spcAft>
                          <a:spcPts val="0"/>
                        </a:spcAft>
                        <a:buClrTx/>
                        <a:buSzTx/>
                        <a:buFontTx/>
                        <a:buNone/>
                        <a:tabLst/>
                        <a:defRPr/>
                      </a:pP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endParaRPr lang="en-US" sz="1400" dirty="0">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dirty="0">
                          <a:solidFill>
                            <a:srgbClr val="55575A"/>
                          </a:solidFill>
                          <a:latin typeface="Roboto Condensed" pitchFamily="34" charset="0"/>
                          <a:ea typeface="Roboto Condensed" pitchFamily="34" charset="-122"/>
                          <a:cs typeface="Roboto Condensed" pitchFamily="34" charset="-120"/>
                        </a:rPr>
                        <a:t>Analysis of visual models</a:t>
                      </a:r>
                      <a:endParaRPr lang="en-US" sz="2000" dirty="0"/>
                    </a:p>
                    <a:p>
                      <a:pPr algn="just"/>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55575A"/>
                          </a:solidFill>
                          <a:latin typeface="Roboto Condensed" pitchFamily="34" charset="0"/>
                          <a:ea typeface="Roboto Condensed" pitchFamily="34" charset="-122"/>
                          <a:cs typeface="Roboto Condensed" pitchFamily="34" charset="-120"/>
                        </a:rPr>
                        <a:t>Showed that lighting, occlusions, and cultural discrepancies drastically lower the accuracy of visual emotion detection</a:t>
                      </a:r>
                      <a:endParaRPr lang="en-US" sz="1800" dirty="0"/>
                    </a:p>
                    <a:p>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2199241"/>
                  </a:ext>
                </a:extLst>
              </a:tr>
            </a:tbl>
          </a:graphicData>
        </a:graphic>
      </p:graphicFrame>
    </p:spTree>
    <p:extLst>
      <p:ext uri="{BB962C8B-B14F-4D97-AF65-F5344CB8AC3E}">
        <p14:creationId xmlns:p14="http://schemas.microsoft.com/office/powerpoint/2010/main" val="23750824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51873-EA3E-6DB7-6942-702F2A435665}"/>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A7290D9E-348F-438B-B97D-018BB8FFA12C}"/>
              </a:ext>
            </a:extLst>
          </p:cNvPr>
          <p:cNvSpPr>
            <a:spLocks noGrp="1"/>
          </p:cNvSpPr>
          <p:nvPr>
            <p:ph type="dt" sz="half" idx="10"/>
          </p:nvPr>
        </p:nvSpPr>
        <p:spPr/>
        <p:txBody>
          <a:bodyPr/>
          <a:lstStyle/>
          <a:p>
            <a:r>
              <a:rPr lang="en-IN" dirty="0"/>
              <a:t>10-11-2025</a:t>
            </a:r>
          </a:p>
        </p:txBody>
      </p:sp>
      <p:sp>
        <p:nvSpPr>
          <p:cNvPr id="3" name="Footer Placeholder 2">
            <a:extLst>
              <a:ext uri="{FF2B5EF4-FFF2-40B4-BE49-F238E27FC236}">
                <a16:creationId xmlns:a16="http://schemas.microsoft.com/office/drawing/2014/main" id="{2C62B944-67C0-DE2B-5853-ADBF44A0C5E2}"/>
              </a:ext>
            </a:extLst>
          </p:cNvPr>
          <p:cNvSpPr>
            <a:spLocks noGrp="1"/>
          </p:cNvSpPr>
          <p:nvPr>
            <p:ph type="ftr" sz="quarter" idx="11"/>
          </p:nvPr>
        </p:nvSpPr>
        <p:spPr/>
        <p:txBody>
          <a:bodyPr/>
          <a:lstStyle/>
          <a:p>
            <a:r>
              <a:rPr lang="en-US" dirty="0"/>
              <a:t>Review No. 01        Batch No. CB6           Department of CSE</a:t>
            </a:r>
            <a:endParaRPr lang="en-IN" dirty="0"/>
          </a:p>
        </p:txBody>
      </p:sp>
      <p:sp>
        <p:nvSpPr>
          <p:cNvPr id="4" name="Slide Number Placeholder 3">
            <a:extLst>
              <a:ext uri="{FF2B5EF4-FFF2-40B4-BE49-F238E27FC236}">
                <a16:creationId xmlns:a16="http://schemas.microsoft.com/office/drawing/2014/main" id="{4DCD51DD-E001-1FF8-AD39-7EA6268B58CD}"/>
              </a:ext>
            </a:extLst>
          </p:cNvPr>
          <p:cNvSpPr>
            <a:spLocks noGrp="1"/>
          </p:cNvSpPr>
          <p:nvPr>
            <p:ph type="sldNum" sz="quarter" idx="12"/>
          </p:nvPr>
        </p:nvSpPr>
        <p:spPr/>
        <p:txBody>
          <a:bodyPr/>
          <a:lstStyle/>
          <a:p>
            <a:fld id="{65DCBD69-296B-4D7C-AF62-9B588FC78772}" type="slidenum">
              <a:rPr lang="en-IN" smtClean="0"/>
              <a:t>6</a:t>
            </a:fld>
            <a:endParaRPr lang="en-IN" dirty="0"/>
          </a:p>
        </p:txBody>
      </p:sp>
      <p:pic>
        <p:nvPicPr>
          <p:cNvPr id="5" name="Picture 4">
            <a:extLst>
              <a:ext uri="{FF2B5EF4-FFF2-40B4-BE49-F238E27FC236}">
                <a16:creationId xmlns:a16="http://schemas.microsoft.com/office/drawing/2014/main" id="{41275641-FAD8-A6E1-8269-9D8FDDC052BB}"/>
              </a:ext>
            </a:extLst>
          </p:cNvPr>
          <p:cNvPicPr>
            <a:picLocks noChangeAspect="1"/>
          </p:cNvPicPr>
          <p:nvPr/>
        </p:nvPicPr>
        <p:blipFill>
          <a:blip r:embed="rId2"/>
          <a:stretch>
            <a:fillRect/>
          </a:stretch>
        </p:blipFill>
        <p:spPr>
          <a:xfrm>
            <a:off x="0" y="0"/>
            <a:ext cx="3762900" cy="579027"/>
          </a:xfrm>
          <a:prstGeom prst="rect">
            <a:avLst/>
          </a:prstGeom>
        </p:spPr>
      </p:pic>
      <p:graphicFrame>
        <p:nvGraphicFramePr>
          <p:cNvPr id="8" name="Table 7">
            <a:extLst>
              <a:ext uri="{FF2B5EF4-FFF2-40B4-BE49-F238E27FC236}">
                <a16:creationId xmlns:a16="http://schemas.microsoft.com/office/drawing/2014/main" id="{73775A86-7911-7E2C-C46E-741D9165CB2E}"/>
              </a:ext>
            </a:extLst>
          </p:cNvPr>
          <p:cNvGraphicFramePr>
            <a:graphicFrameLocks noGrp="1"/>
          </p:cNvGraphicFramePr>
          <p:nvPr>
            <p:extLst>
              <p:ext uri="{D42A27DB-BD31-4B8C-83A1-F6EECF244321}">
                <p14:modId xmlns:p14="http://schemas.microsoft.com/office/powerpoint/2010/main" val="299798671"/>
              </p:ext>
            </p:extLst>
          </p:nvPr>
        </p:nvGraphicFramePr>
        <p:xfrm>
          <a:off x="261257" y="1015691"/>
          <a:ext cx="11151883" cy="5100243"/>
        </p:xfrm>
        <a:graphic>
          <a:graphicData uri="http://schemas.openxmlformats.org/drawingml/2006/table">
            <a:tbl>
              <a:tblPr firstRow="1" bandRow="1">
                <a:tableStyleId>{17292A2E-F333-43FB-9621-5CBBE7FDCDCB}</a:tableStyleId>
              </a:tblPr>
              <a:tblGrid>
                <a:gridCol w="624011">
                  <a:extLst>
                    <a:ext uri="{9D8B030D-6E8A-4147-A177-3AD203B41FA5}">
                      <a16:colId xmlns:a16="http://schemas.microsoft.com/office/drawing/2014/main" val="3847149916"/>
                    </a:ext>
                  </a:extLst>
                </a:gridCol>
                <a:gridCol w="3417945">
                  <a:extLst>
                    <a:ext uri="{9D8B030D-6E8A-4147-A177-3AD203B41FA5}">
                      <a16:colId xmlns:a16="http://schemas.microsoft.com/office/drawing/2014/main" val="1796882217"/>
                    </a:ext>
                  </a:extLst>
                </a:gridCol>
                <a:gridCol w="3807233">
                  <a:extLst>
                    <a:ext uri="{9D8B030D-6E8A-4147-A177-3AD203B41FA5}">
                      <a16:colId xmlns:a16="http://schemas.microsoft.com/office/drawing/2014/main" val="3351025460"/>
                    </a:ext>
                  </a:extLst>
                </a:gridCol>
                <a:gridCol w="3302694">
                  <a:extLst>
                    <a:ext uri="{9D8B030D-6E8A-4147-A177-3AD203B41FA5}">
                      <a16:colId xmlns:a16="http://schemas.microsoft.com/office/drawing/2014/main" val="878577757"/>
                    </a:ext>
                  </a:extLst>
                </a:gridCol>
              </a:tblGrid>
              <a:tr h="434156">
                <a:tc>
                  <a:txBody>
                    <a:bodyPr/>
                    <a:lstStyle/>
                    <a:p>
                      <a:pPr algn="ctr"/>
                      <a:r>
                        <a:rPr lang="en-US" sz="2400" dirty="0">
                          <a:solidFill>
                            <a:schemeClr val="tx1"/>
                          </a:solidFill>
                        </a:rPr>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Author / 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Methodology Adapted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400" dirty="0">
                          <a:solidFill>
                            <a:schemeClr val="tx1"/>
                          </a:solidFill>
                        </a:rPr>
                        <a:t>Key Findings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3645685"/>
                  </a:ext>
                </a:extLst>
              </a:tr>
              <a:tr h="1430830">
                <a:tc>
                  <a:txBody>
                    <a:bodyPr/>
                    <a:lstStyle/>
                    <a:p>
                      <a:pPr algn="l"/>
                      <a:r>
                        <a:rPr lang="en-US" sz="20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endParaRPr lang="en-US" sz="2000" dirty="0">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dirty="0">
                          <a:solidFill>
                            <a:srgbClr val="55575A"/>
                          </a:solidFill>
                          <a:latin typeface="Roboto Condensed" pitchFamily="34" charset="0"/>
                          <a:ea typeface="Roboto Condensed" pitchFamily="34" charset="-122"/>
                          <a:cs typeface="Roboto Condensed" pitchFamily="34" charset="-120"/>
                        </a:rPr>
                        <a:t>Huang et al. (2024)</a:t>
                      </a:r>
                      <a:endParaRPr lang="en-US" sz="2000" dirty="0"/>
                    </a:p>
                    <a:p>
                      <a:pPr algn="just"/>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dirty="0">
                          <a:solidFill>
                            <a:srgbClr val="55575A"/>
                          </a:solidFill>
                          <a:latin typeface="Roboto Condensed" pitchFamily="34" charset="0"/>
                          <a:ea typeface="Roboto Condensed" pitchFamily="34" charset="-122"/>
                          <a:cs typeface="Roboto Condensed" pitchFamily="34" charset="-120"/>
                        </a:rPr>
                        <a:t>Graph Neural Networks (GNNs) for inter-skill relationships</a:t>
                      </a:r>
                      <a:endParaRPr lang="en-US" sz="2000" dirty="0"/>
                    </a:p>
                    <a:p>
                      <a:pPr algn="just"/>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dirty="0">
                          <a:solidFill>
                            <a:srgbClr val="55575A"/>
                          </a:solidFill>
                          <a:latin typeface="Roboto Condensed" pitchFamily="34" charset="0"/>
                          <a:ea typeface="Roboto Condensed" pitchFamily="34" charset="-122"/>
                          <a:cs typeface="Roboto Condensed" pitchFamily="34" charset="-120"/>
                        </a:rPr>
                        <a:t>Found that contextualized skill embeddings improved model interpretability</a:t>
                      </a:r>
                      <a:endParaRPr lang="en-US" sz="2000" dirty="0"/>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2334002"/>
                  </a:ext>
                </a:extLst>
              </a:tr>
              <a:tr h="1632694">
                <a:tc>
                  <a:txBody>
                    <a:bodyPr/>
                    <a:lstStyle/>
                    <a:p>
                      <a:pPr algn="just"/>
                      <a:r>
                        <a:rPr lang="en-US" sz="2000"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endParaRPr lang="en-US" sz="1400" dirty="0">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dirty="0">
                          <a:solidFill>
                            <a:srgbClr val="55575A"/>
                          </a:solidFill>
                          <a:latin typeface="Roboto Condensed" pitchFamily="34" charset="0"/>
                          <a:ea typeface="Roboto Condensed" pitchFamily="34" charset="-122"/>
                          <a:cs typeface="Roboto Condensed" pitchFamily="34" charset="-120"/>
                        </a:rPr>
                        <a:t>Wu et al. (2024)</a:t>
                      </a:r>
                      <a:endParaRPr lang="en-US" sz="2000" dirty="0"/>
                    </a:p>
                    <a:p>
                      <a:pPr algn="just"/>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endParaRPr lang="en-US" sz="2000" dirty="0">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dirty="0">
                          <a:solidFill>
                            <a:srgbClr val="55575A"/>
                          </a:solidFill>
                          <a:latin typeface="Roboto Condensed" pitchFamily="34" charset="0"/>
                          <a:ea typeface="Roboto Condensed" pitchFamily="34" charset="-122"/>
                          <a:cs typeface="Roboto Condensed" pitchFamily="34" charset="-120"/>
                        </a:rPr>
                        <a:t>Attention-enhanced GRUs</a:t>
                      </a:r>
                      <a:endParaRPr lang="en-US" sz="2000" dirty="0"/>
                    </a:p>
                    <a:p>
                      <a:pPr algn="just"/>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2000" dirty="0">
                        <a:solidFill>
                          <a:srgbClr val="55575A"/>
                        </a:solidFill>
                        <a:latin typeface="Roboto Condensed" pitchFamily="34" charset="0"/>
                        <a:ea typeface="Roboto Condensed" pitchFamily="34" charset="-122"/>
                        <a:cs typeface="Roboto Condensed" pitchFamily="34" charset="-12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dirty="0">
                          <a:solidFill>
                            <a:srgbClr val="55575A"/>
                          </a:solidFill>
                          <a:latin typeface="Roboto Condensed" pitchFamily="34" charset="0"/>
                          <a:ea typeface="Roboto Condensed" pitchFamily="34" charset="-122"/>
                          <a:cs typeface="Roboto Condensed" pitchFamily="34" charset="-120"/>
                        </a:rPr>
                        <a:t>Attained a 15% F1-score improvement over baseline RNNs on engagement datasets</a:t>
                      </a:r>
                      <a:endParaRPr lang="en-US" sz="2000" dirty="0"/>
                    </a:p>
                    <a:p>
                      <a:pPr algn="just"/>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0331738"/>
                  </a:ext>
                </a:extLst>
              </a:tr>
              <a:tr h="1579519">
                <a:tc>
                  <a:txBody>
                    <a:bodyPr/>
                    <a:lstStyle/>
                    <a:p>
                      <a:pPr algn="just"/>
                      <a:endParaRPr lang="en-US" sz="1400" dirty="0"/>
                    </a:p>
                    <a:p>
                      <a:pPr algn="just"/>
                      <a:r>
                        <a:rPr lang="en-US" sz="20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endParaRPr lang="en-US" sz="1400" dirty="0">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dirty="0">
                          <a:solidFill>
                            <a:srgbClr val="55575A"/>
                          </a:solidFill>
                          <a:latin typeface="Roboto Condensed" pitchFamily="34" charset="0"/>
                          <a:ea typeface="Roboto Condensed" pitchFamily="34" charset="-122"/>
                          <a:cs typeface="Roboto Condensed" pitchFamily="34" charset="-120"/>
                        </a:rPr>
                        <a:t>Zhang et al. (2024)</a:t>
                      </a:r>
                      <a:endParaRPr lang="en-US" sz="2000" dirty="0"/>
                    </a:p>
                    <a:p>
                      <a:pPr algn="just"/>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endParaRPr lang="en-US" sz="1400" dirty="0">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dirty="0">
                          <a:solidFill>
                            <a:srgbClr val="55575A"/>
                          </a:solidFill>
                          <a:latin typeface="Roboto Condensed" pitchFamily="34" charset="0"/>
                          <a:ea typeface="Roboto Condensed" pitchFamily="34" charset="-122"/>
                          <a:cs typeface="Roboto Condensed" pitchFamily="34" charset="-120"/>
                        </a:rPr>
                        <a:t>Transformer variants for session analysis</a:t>
                      </a:r>
                      <a:endParaRPr lang="en-US" sz="2000" dirty="0"/>
                    </a:p>
                    <a:p>
                      <a:pPr algn="just"/>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endParaRPr lang="en-US" sz="1400" dirty="0">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dirty="0">
                          <a:solidFill>
                            <a:srgbClr val="55575A"/>
                          </a:solidFill>
                          <a:latin typeface="Roboto Condensed" pitchFamily="34" charset="0"/>
                          <a:ea typeface="Roboto Condensed" pitchFamily="34" charset="-122"/>
                          <a:cs typeface="Roboto Condensed" pitchFamily="34" charset="-120"/>
                        </a:rPr>
                        <a:t>Attained state-of-the-art accuracy using the EdNet-KT1 dataset</a:t>
                      </a:r>
                      <a:endParaRPr lang="en-US" sz="2000" dirty="0"/>
                    </a:p>
                    <a:p>
                      <a:pPr algn="just"/>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0983669"/>
                  </a:ext>
                </a:extLst>
              </a:tr>
            </a:tbl>
          </a:graphicData>
        </a:graphic>
      </p:graphicFrame>
    </p:spTree>
    <p:extLst>
      <p:ext uri="{BB962C8B-B14F-4D97-AF65-F5344CB8AC3E}">
        <p14:creationId xmlns:p14="http://schemas.microsoft.com/office/powerpoint/2010/main" val="25716431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RESEARCH GAPS</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199" y="1573699"/>
            <a:ext cx="10610461" cy="4351338"/>
          </a:xfrm>
        </p:spPr>
        <p:txBody>
          <a:bodyPr>
            <a:normAutofit/>
          </a:bodyPr>
          <a:lstStyle/>
          <a:p>
            <a:r>
              <a:rPr lang="en-US" sz="2400" b="1" dirty="0">
                <a:solidFill>
                  <a:srgbClr val="55575A"/>
                </a:solidFill>
                <a:latin typeface="Hubot Sans Bold" pitchFamily="34" charset="0"/>
                <a:ea typeface="Hubot Sans Bold" pitchFamily="34" charset="-122"/>
                <a:cs typeface="Hubot Sans Bold" pitchFamily="34" charset="-120"/>
              </a:rPr>
              <a:t>Privacy vs. Precision : </a:t>
            </a:r>
            <a:r>
              <a:rPr lang="en-US" sz="2200" dirty="0">
                <a:solidFill>
                  <a:srgbClr val="55575A"/>
                </a:solidFill>
                <a:latin typeface="Roboto Condensed" pitchFamily="34" charset="0"/>
                <a:ea typeface="Roboto Condensed" pitchFamily="34" charset="-122"/>
                <a:cs typeface="Roboto Condensed" pitchFamily="34" charset="-120"/>
              </a:rPr>
              <a:t>Most current solutions either sacrifice precision to</a:t>
            </a:r>
            <a:r>
              <a:rPr lang="en-US" dirty="0">
                <a:solidFill>
                  <a:srgbClr val="55575A"/>
                </a:solidFill>
                <a:latin typeface="Roboto Condensed" pitchFamily="34" charset="0"/>
                <a:ea typeface="Roboto Condensed" pitchFamily="34" charset="-122"/>
                <a:cs typeface="Roboto Condensed" pitchFamily="34" charset="-120"/>
              </a:rPr>
              <a:t> </a:t>
            </a:r>
            <a:r>
              <a:rPr lang="en-US" sz="2200" dirty="0">
                <a:solidFill>
                  <a:srgbClr val="55575A"/>
                </a:solidFill>
                <a:latin typeface="Roboto Condensed" pitchFamily="34" charset="0"/>
                <a:ea typeface="Roboto Condensed" pitchFamily="34" charset="-122"/>
                <a:cs typeface="Roboto Condensed" pitchFamily="34" charset="-120"/>
              </a:rPr>
              <a:t>preserve privacy or are not robust enough for real-time inference.</a:t>
            </a:r>
            <a:endParaRPr lang="en-US" sz="2200" dirty="0"/>
          </a:p>
          <a:p>
            <a:r>
              <a:rPr lang="en-US" sz="2400" b="1" dirty="0">
                <a:solidFill>
                  <a:srgbClr val="55575A"/>
                </a:solidFill>
                <a:latin typeface="Hubot Sans Bold" pitchFamily="34" charset="0"/>
                <a:ea typeface="Hubot Sans Bold" pitchFamily="34" charset="-122"/>
                <a:cs typeface="Hubot Sans Bold" pitchFamily="34" charset="-120"/>
              </a:rPr>
              <a:t>Lack of Multi-Class Detection </a:t>
            </a:r>
            <a:r>
              <a:rPr lang="en-US" sz="2000" b="1" dirty="0">
                <a:solidFill>
                  <a:srgbClr val="55575A"/>
                </a:solidFill>
                <a:latin typeface="Hubot Sans Bold" pitchFamily="34" charset="0"/>
                <a:ea typeface="Hubot Sans Bold" pitchFamily="34" charset="-122"/>
                <a:cs typeface="Hubot Sans Bold" pitchFamily="34" charset="-120"/>
              </a:rPr>
              <a:t>: </a:t>
            </a:r>
            <a:r>
              <a:rPr lang="en-US" sz="2000" dirty="0">
                <a:solidFill>
                  <a:srgbClr val="55575A"/>
                </a:solidFill>
                <a:latin typeface="Roboto Condensed" pitchFamily="34" charset="0"/>
                <a:ea typeface="Roboto Condensed" pitchFamily="34" charset="-122"/>
                <a:cs typeface="Roboto Condensed" pitchFamily="34" charset="-120"/>
              </a:rPr>
              <a:t>Multi-class engagement detection (low, medium, high) is not adequately explored; most work focuses on binary classification.</a:t>
            </a:r>
            <a:endParaRPr lang="en-US" sz="2000" dirty="0"/>
          </a:p>
          <a:p>
            <a:r>
              <a:rPr lang="en-US" sz="2400" b="1" dirty="0">
                <a:solidFill>
                  <a:srgbClr val="55575A"/>
                </a:solidFill>
                <a:latin typeface="Hubot Sans Bold" pitchFamily="34" charset="0"/>
                <a:ea typeface="Hubot Sans Bold" pitchFamily="34" charset="-122"/>
                <a:cs typeface="Hubot Sans Bold" pitchFamily="34" charset="-120"/>
              </a:rPr>
              <a:t>Class Imbalance </a:t>
            </a:r>
            <a:r>
              <a:rPr lang="en-US" b="1" dirty="0">
                <a:solidFill>
                  <a:srgbClr val="55575A"/>
                </a:solidFill>
                <a:latin typeface="Hubot Sans Bold" pitchFamily="34" charset="0"/>
                <a:ea typeface="Hubot Sans Bold" pitchFamily="34" charset="-122"/>
                <a:cs typeface="Hubot Sans Bold" pitchFamily="34" charset="-120"/>
              </a:rPr>
              <a:t>: </a:t>
            </a:r>
            <a:r>
              <a:rPr lang="en-US" sz="2000" dirty="0">
                <a:solidFill>
                  <a:srgbClr val="55575A"/>
                </a:solidFill>
                <a:latin typeface="Roboto Condensed" pitchFamily="34" charset="0"/>
                <a:ea typeface="Roboto Condensed" pitchFamily="34" charset="-122"/>
                <a:cs typeface="Roboto Condensed" pitchFamily="34" charset="-120"/>
              </a:rPr>
              <a:t>Current models (often 80-90% accuracy) have difficulty with class imbalance and session variability.</a:t>
            </a:r>
          </a:p>
          <a:p>
            <a:endParaRPr lang="en-US" sz="2000" b="1" dirty="0">
              <a:solidFill>
                <a:srgbClr val="0C0D0F"/>
              </a:solidFill>
              <a:latin typeface="Hubot Sans Bold" pitchFamily="34" charset="0"/>
              <a:ea typeface="Hubot Sans Bold" pitchFamily="34" charset="-122"/>
              <a:cs typeface="Hubot Sans Bold" pitchFamily="34" charset="-120"/>
            </a:endParaRPr>
          </a:p>
          <a:p>
            <a:pPr marL="0" indent="0">
              <a:buNone/>
            </a:pPr>
            <a:r>
              <a:rPr lang="en-US" b="1" dirty="0">
                <a:solidFill>
                  <a:srgbClr val="0C0D0F"/>
                </a:solidFill>
                <a:latin typeface="Hubot Sans Bold" pitchFamily="34" charset="0"/>
                <a:ea typeface="Hubot Sans Bold" pitchFamily="34" charset="-122"/>
                <a:cs typeface="Hubot Sans Bold" pitchFamily="34" charset="-120"/>
              </a:rPr>
              <a:t>   The Need</a:t>
            </a:r>
            <a:endParaRPr lang="en-US" dirty="0"/>
          </a:p>
          <a:p>
            <a:pPr marL="0" indent="0">
              <a:buNone/>
            </a:pPr>
            <a:r>
              <a:rPr lang="en-US" sz="2000" dirty="0">
                <a:solidFill>
                  <a:srgbClr val="55575A"/>
                </a:solidFill>
                <a:latin typeface="Roboto Condensed" pitchFamily="34" charset="0"/>
                <a:ea typeface="Roboto Condensed" pitchFamily="34" charset="-122"/>
                <a:cs typeface="Roboto Condensed" pitchFamily="34" charset="-120"/>
              </a:rPr>
              <a:t>There is an urgent need for models that combine </a:t>
            </a:r>
            <a:r>
              <a:rPr lang="en-US" sz="2000" b="1" dirty="0">
                <a:solidFill>
                  <a:srgbClr val="1E1E1A"/>
                </a:solidFill>
                <a:latin typeface="Roboto Condensed" pitchFamily="34" charset="0"/>
                <a:ea typeface="Roboto Condensed" pitchFamily="34" charset="-122"/>
                <a:cs typeface="Roboto Condensed" pitchFamily="34" charset="-120"/>
              </a:rPr>
              <a:t>high accuracy,       privacy protections, advanced feature engineering, and robust sequence modeling</a:t>
            </a:r>
            <a:r>
              <a:rPr lang="en-US" sz="2000" dirty="0">
                <a:solidFill>
                  <a:srgbClr val="55575A"/>
                </a:solidFill>
                <a:latin typeface="Roboto Condensed" pitchFamily="34" charset="0"/>
                <a:ea typeface="Roboto Condensed" pitchFamily="34" charset="-122"/>
                <a:cs typeface="Roboto Condensed" pitchFamily="34" charset="-120"/>
              </a:rPr>
              <a:t>.</a:t>
            </a:r>
            <a:endParaRPr lang="en-US" sz="2000" dirty="0"/>
          </a:p>
          <a:p>
            <a:pPr marL="0" indent="0">
              <a:buNone/>
            </a:pPr>
            <a:endParaRPr lang="en-US" sz="2000" dirty="0"/>
          </a:p>
          <a:p>
            <a:pPr marL="0" indent="0">
              <a:buNone/>
            </a:pPr>
            <a:endParaRPr lang="en-US" dirty="0"/>
          </a:p>
          <a:p>
            <a:pPr marL="0" indent="0">
              <a:buNone/>
            </a:pPr>
            <a:endParaRPr lang="en-US" dirty="0"/>
          </a:p>
          <a:p>
            <a:pPr marL="0" indent="0">
              <a:buNone/>
            </a:pPr>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10-11-2025</a:t>
            </a: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01        Batch No. CB6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7</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31685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PROBLEM STATEMENT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937592"/>
            <a:ext cx="10515600" cy="4351338"/>
          </a:xfrm>
        </p:spPr>
        <p:txBody>
          <a:bodyPr>
            <a:normAutofit/>
          </a:bodyPr>
          <a:lstStyle/>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solidFill>
                  <a:srgbClr val="55575A"/>
                </a:solidFill>
                <a:latin typeface="Roboto Condensed" pitchFamily="34" charset="0"/>
                <a:ea typeface="Roboto Condensed" pitchFamily="34" charset="-122"/>
                <a:cs typeface="Roboto Condensed" pitchFamily="34" charset="-120"/>
              </a:rPr>
              <a:t>Current engagement recognition systems heavily depend on </a:t>
            </a:r>
            <a:r>
              <a:rPr lang="en-US" sz="2000" b="1" dirty="0">
                <a:solidFill>
                  <a:srgbClr val="55575A"/>
                </a:solidFill>
                <a:latin typeface="Roboto Condensed" pitchFamily="34" charset="0"/>
                <a:ea typeface="Roboto Condensed" pitchFamily="34" charset="-122"/>
                <a:cs typeface="Roboto Condensed" pitchFamily="34" charset="-120"/>
              </a:rPr>
              <a:t>visual indicators</a:t>
            </a:r>
            <a:r>
              <a:rPr lang="en-US" sz="2000" dirty="0">
                <a:solidFill>
                  <a:srgbClr val="55575A"/>
                </a:solidFill>
                <a:latin typeface="Roboto Condensed" pitchFamily="34" charset="0"/>
                <a:ea typeface="Roboto Condensed" pitchFamily="34" charset="-122"/>
                <a:cs typeface="Roboto Condensed" pitchFamily="34" charset="-120"/>
              </a:rPr>
              <a:t> (like facial expressions and eye-tracking). This reliance creates </a:t>
            </a:r>
            <a:r>
              <a:rPr lang="en-US" sz="2000" b="1" dirty="0">
                <a:solidFill>
                  <a:srgbClr val="1E1E1A"/>
                </a:solidFill>
                <a:latin typeface="Roboto Condensed" pitchFamily="34" charset="0"/>
                <a:ea typeface="Roboto Condensed" pitchFamily="34" charset="-122"/>
                <a:cs typeface="Roboto Condensed" pitchFamily="34" charset="-120"/>
              </a:rPr>
              <a:t>significant privacy-related challenges, high implementation costs, and adaptability issues</a:t>
            </a:r>
            <a:r>
              <a:rPr lang="en-US" sz="2000" dirty="0">
                <a:solidFill>
                  <a:srgbClr val="55575A"/>
                </a:solidFill>
                <a:latin typeface="Roboto Condensed" pitchFamily="34" charset="0"/>
                <a:ea typeface="Roboto Condensed" pitchFamily="34" charset="-122"/>
                <a:cs typeface="Roboto Condensed" pitchFamily="34" charset="-120"/>
              </a:rPr>
              <a:t> for large-scale hybrid environments. This approach often violates institutional policies and ethical principles regarding personally identifiable information. Therefore, a </a:t>
            </a:r>
            <a:r>
              <a:rPr lang="en-US" sz="2000" b="1" dirty="0">
                <a:solidFill>
                  <a:srgbClr val="55575A"/>
                </a:solidFill>
                <a:latin typeface="Roboto Condensed" pitchFamily="34" charset="0"/>
                <a:ea typeface="Roboto Condensed" pitchFamily="34" charset="-122"/>
                <a:cs typeface="Roboto Condensed" pitchFamily="34" charset="-120"/>
              </a:rPr>
              <a:t>non-intrusive, privacy-preserving procedure</a:t>
            </a:r>
            <a:r>
              <a:rPr lang="en-US" sz="2000" dirty="0">
                <a:solidFill>
                  <a:srgbClr val="55575A"/>
                </a:solidFill>
                <a:latin typeface="Roboto Condensed" pitchFamily="34" charset="0"/>
                <a:ea typeface="Roboto Condensed" pitchFamily="34" charset="-122"/>
                <a:cs typeface="Roboto Condensed" pitchFamily="34" charset="-120"/>
              </a:rPr>
              <a:t> is required to effectively and accurately measure learner engagement.</a:t>
            </a:r>
            <a:endParaRPr lang="en-US" sz="2000" dirty="0"/>
          </a:p>
          <a:p>
            <a:pPr marL="0" indent="0" algn="just">
              <a:buNone/>
            </a:pPr>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10-11-2025</a:t>
            </a: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01        Batch No. CB6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8</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9738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OBJECTIVES</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Autofit/>
          </a:bodyPr>
          <a:lstStyle/>
          <a:p>
            <a:r>
              <a:rPr lang="en-US" sz="2000" dirty="0">
                <a:solidFill>
                  <a:srgbClr val="55575A"/>
                </a:solidFill>
                <a:latin typeface="Roboto Condensed" pitchFamily="34" charset="0"/>
                <a:ea typeface="Roboto Condensed" pitchFamily="34" charset="-122"/>
                <a:cs typeface="Roboto Condensed" pitchFamily="34" charset="-120"/>
              </a:rPr>
              <a:t>To design a novel, privacy-preserving framework (PrivLogEdu) for real-time engagement detection using non-visual log data</a:t>
            </a:r>
            <a:endParaRPr lang="en-US" sz="2000" dirty="0"/>
          </a:p>
          <a:p>
            <a:r>
              <a:rPr lang="en-US" sz="2000" dirty="0">
                <a:solidFill>
                  <a:srgbClr val="55575A"/>
                </a:solidFill>
                <a:latin typeface="Roboto Condensed" pitchFamily="34" charset="0"/>
                <a:ea typeface="Roboto Condensed" pitchFamily="34" charset="-122"/>
                <a:cs typeface="Roboto Condensed" pitchFamily="34" charset="-120"/>
              </a:rPr>
              <a:t>To apply sophisticated feature engineering and Skill2Vec embeddings to convert raw logs into meaningful behavioral and temporal features</a:t>
            </a:r>
            <a:endParaRPr lang="en-US" sz="2000" dirty="0"/>
          </a:p>
          <a:p>
            <a:r>
              <a:rPr lang="en-US" sz="2000" dirty="0">
                <a:solidFill>
                  <a:srgbClr val="55575A"/>
                </a:solidFill>
                <a:latin typeface="Roboto Condensed" pitchFamily="34" charset="0"/>
                <a:ea typeface="Roboto Condensed" pitchFamily="34" charset="-122"/>
                <a:cs typeface="Roboto Condensed" pitchFamily="34" charset="-120"/>
              </a:rPr>
              <a:t>To develop and implement a GRU-attention deep learning architecture tailored for educational sequence modeling</a:t>
            </a:r>
            <a:endParaRPr lang="en-US" sz="2000" dirty="0"/>
          </a:p>
          <a:p>
            <a:r>
              <a:rPr lang="en-US" sz="2000" dirty="0">
                <a:solidFill>
                  <a:srgbClr val="55575A"/>
                </a:solidFill>
                <a:latin typeface="Roboto Condensed" pitchFamily="34" charset="0"/>
                <a:ea typeface="Roboto Condensed" pitchFamily="34" charset="-122"/>
                <a:cs typeface="Roboto Condensed" pitchFamily="34" charset="-120"/>
              </a:rPr>
              <a:t>To accurately classify student engagement into three distinct levels: low, moderate, and high</a:t>
            </a:r>
            <a:endParaRPr lang="en-US" sz="2000" dirty="0"/>
          </a:p>
          <a:p>
            <a:r>
              <a:rPr lang="en-US" sz="2000" dirty="0">
                <a:solidFill>
                  <a:srgbClr val="55575A"/>
                </a:solidFill>
                <a:latin typeface="Roboto Condensed" pitchFamily="34" charset="0"/>
                <a:ea typeface="Roboto Condensed" pitchFamily="34" charset="-122"/>
                <a:cs typeface="Roboto Condensed" pitchFamily="34" charset="-120"/>
              </a:rPr>
              <a:t>To evaluate the model and demonstrate superior performance over baseline models like LSTM and Transformer on the EdNet-KT1 dataset</a:t>
            </a:r>
            <a:endParaRPr lang="en-US" sz="2000" dirty="0"/>
          </a:p>
          <a:p>
            <a:r>
              <a:rPr lang="en-US" sz="2000" dirty="0">
                <a:solidFill>
                  <a:srgbClr val="55575A"/>
                </a:solidFill>
                <a:latin typeface="Roboto Condensed" pitchFamily="34" charset="0"/>
                <a:ea typeface="Roboto Condensed" pitchFamily="34" charset="-122"/>
                <a:cs typeface="Roboto Condensed" pitchFamily="34" charset="-120"/>
              </a:rPr>
              <a:t>To provide a scalable solution that supports UN Sustainable Development Goal (SDG) 4 (Quality Education) by protecting learner privacy</a:t>
            </a:r>
            <a:endParaRPr lang="en-US" sz="2000" dirty="0"/>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10-11-2025</a:t>
            </a: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01        Batch No. CB6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9</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123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BLOCK DIAGRAM OR FLOW DIAGRAM</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10-11-2025</a:t>
            </a: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01        Batch No. CB6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10</a:t>
            </a:fld>
            <a:endParaRPr lang="en-US">
              <a:latin typeface="Times New Roman" panose="02020603050405020304" pitchFamily="18" charset="0"/>
              <a:cs typeface="Times New Roman" panose="02020603050405020304" pitchFamily="18" charset="0"/>
            </a:endParaRPr>
          </a:p>
        </p:txBody>
      </p:sp>
      <p:pic>
        <p:nvPicPr>
          <p:cNvPr id="14" name="Content Placeholder 13">
            <a:extLst>
              <a:ext uri="{FF2B5EF4-FFF2-40B4-BE49-F238E27FC236}">
                <a16:creationId xmlns:a16="http://schemas.microsoft.com/office/drawing/2014/main" id="{2D725908-BEFA-FA82-7B87-57E5FB1BD63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69360" y="1117600"/>
            <a:ext cx="5140960" cy="5375275"/>
          </a:xfrm>
        </p:spPr>
      </p:pic>
    </p:spTree>
    <p:extLst>
      <p:ext uri="{BB962C8B-B14F-4D97-AF65-F5344CB8AC3E}">
        <p14:creationId xmlns:p14="http://schemas.microsoft.com/office/powerpoint/2010/main" val="2137029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normAutofit/>
          </a:bodyPr>
          <a:lstStyle/>
          <a:p>
            <a:pPr algn="ctr"/>
            <a:r>
              <a:rPr lang="en-US" sz="3200" b="1" dirty="0">
                <a:latin typeface="Times New Roman" panose="02020603050405020304" pitchFamily="18" charset="0"/>
                <a:cs typeface="Times New Roman" panose="02020603050405020304" pitchFamily="18" charset="0"/>
              </a:rPr>
              <a:t>METHODOLOGY </a:t>
            </a:r>
            <a:r>
              <a:rPr lang="en-US" sz="2800" b="1" dirty="0">
                <a:latin typeface="Times New Roman" panose="02020603050405020304" pitchFamily="18" charset="0"/>
                <a:cs typeface="Times New Roman" panose="02020603050405020304" pitchFamily="18" charset="0"/>
              </a:rPr>
              <a:t>AND </a:t>
            </a:r>
            <a:r>
              <a:rPr lang="en-US" sz="3200" b="1" dirty="0">
                <a:latin typeface="Times New Roman" panose="02020603050405020304" pitchFamily="18" charset="0"/>
                <a:cs typeface="Times New Roman" panose="02020603050405020304" pitchFamily="18" charset="0"/>
              </a:rPr>
              <a:t>FEATURE</a:t>
            </a:r>
            <a:r>
              <a:rPr lang="en-US" sz="2800" b="1"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ENGINEERING</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310640"/>
            <a:ext cx="10515600" cy="4866323"/>
          </a:xfrm>
        </p:spPr>
        <p:txBody>
          <a:bodyPr>
            <a:normAutofit/>
          </a:bodyPr>
          <a:lstStyle/>
          <a:p>
            <a:pPr algn="just">
              <a:lnSpc>
                <a:spcPct val="100000"/>
              </a:lnSpc>
            </a:pPr>
            <a:r>
              <a:rPr lang="en-US" sz="2000" dirty="0">
                <a:latin typeface="Times New Roman" panose="02020603050405020304" pitchFamily="18" charset="0"/>
                <a:cs typeface="Times New Roman" panose="02020603050405020304" pitchFamily="18" charset="0"/>
              </a:rPr>
              <a:t>Dataset: EdNet-KT1 dataset</a:t>
            </a:r>
            <a:r>
              <a:rPr lang="en-US" dirty="0">
                <a:latin typeface="Times New Roman" panose="02020603050405020304" pitchFamily="18" charset="0"/>
                <a:cs typeface="Times New Roman" panose="02020603050405020304" pitchFamily="18" charset="0"/>
              </a:rPr>
              <a:t>.</a:t>
            </a:r>
          </a:p>
          <a:p>
            <a:pPr algn="just">
              <a:lnSpc>
                <a:spcPct val="100000"/>
              </a:lnSpc>
            </a:pPr>
            <a:r>
              <a:rPr lang="en-US" sz="2000" dirty="0">
                <a:latin typeface="Times New Roman" panose="02020603050405020304" pitchFamily="18" charset="0"/>
                <a:cs typeface="Times New Roman" panose="02020603050405020304" pitchFamily="18" charset="0"/>
              </a:rPr>
              <a:t>Input Data: Behavioral and temporal log data: problem-solving sequences, time-on-task, and skill-switching patterns.</a:t>
            </a:r>
          </a:p>
          <a:p>
            <a:pPr algn="just">
              <a:lnSpc>
                <a:spcPct val="100000"/>
              </a:lnSpc>
            </a:pPr>
            <a:r>
              <a:rPr lang="en-US" sz="2000" dirty="0">
                <a:latin typeface="Times New Roman" panose="02020603050405020304" pitchFamily="18" charset="0"/>
                <a:cs typeface="Times New Roman" panose="02020603050405020304" pitchFamily="18" charset="0"/>
              </a:rPr>
              <a:t>Preprocessing: Sessions were segmented based on 30 minutes of inactivity; used class balancing and label smoothing.</a:t>
            </a:r>
          </a:p>
          <a:p>
            <a:pPr algn="just">
              <a:lnSpc>
                <a:spcPct val="100000"/>
              </a:lnSpc>
            </a:pPr>
            <a:r>
              <a:rPr lang="en-US" sz="2000" dirty="0">
                <a:latin typeface="Times New Roman" panose="02020603050405020304" pitchFamily="18" charset="0"/>
                <a:cs typeface="Times New Roman" panose="02020603050405020304" pitchFamily="18" charset="0"/>
              </a:rPr>
              <a:t>Feature Engineering (Skill2Vec Embeddings):</a:t>
            </a:r>
          </a:p>
          <a:p>
            <a:pPr marL="0" indent="0" algn="just">
              <a:lnSpc>
                <a:spcPct val="100000"/>
              </a:lnSpc>
              <a:buNone/>
            </a:pPr>
            <a:r>
              <a:rPr lang="en-US" sz="2000" dirty="0">
                <a:latin typeface="Times New Roman" panose="02020603050405020304" pitchFamily="18" charset="0"/>
                <a:cs typeface="Times New Roman" panose="02020603050405020304" pitchFamily="18" charset="0"/>
              </a:rPr>
              <a:t>       Purpose: To capture semantic relationships between different skills.</a:t>
            </a:r>
          </a:p>
          <a:p>
            <a:pPr marL="0" indent="0" algn="just">
              <a:lnSpc>
                <a:spcPct val="100000"/>
              </a:lnSpc>
              <a:buNone/>
            </a:pPr>
            <a:r>
              <a:rPr lang="en-US" sz="2000" dirty="0">
                <a:latin typeface="Times New Roman" panose="02020603050405020304" pitchFamily="18" charset="0"/>
                <a:cs typeface="Times New Roman" panose="02020603050405020304" pitchFamily="18" charset="0"/>
              </a:rPr>
              <a:t>       Method: Word2Vec models were trained on sequences of skill IDs.</a:t>
            </a:r>
          </a:p>
          <a:p>
            <a:pPr marL="0" indent="0" algn="just">
              <a:lnSpc>
                <a:spcPct val="100000"/>
              </a:lnSpc>
              <a:buNone/>
            </a:pPr>
            <a:r>
              <a:rPr lang="en-US" sz="2000" dirty="0">
                <a:latin typeface="Times New Roman" panose="02020603050405020304" pitchFamily="18" charset="0"/>
                <a:cs typeface="Times New Roman" panose="02020603050405020304" pitchFamily="18" charset="0"/>
              </a:rPr>
              <a:t>       Result: Skills frequently co-occurring in learning sequences are mapped closer in a dense vector     space.                 </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10-11-2025</a:t>
            </a: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01        Batch No. CB6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11</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8576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65930-F722-CA3C-07AE-DA9230FDCB2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665FE69-F67C-9421-27E7-16075FCD7FE8}"/>
              </a:ext>
            </a:extLst>
          </p:cNvPr>
          <p:cNvSpPr>
            <a:spLocks noGrp="1"/>
          </p:cNvSpPr>
          <p:nvPr>
            <p:ph type="title"/>
          </p:nvPr>
        </p:nvSpPr>
        <p:spPr>
          <a:xfrm>
            <a:off x="1180618" y="365125"/>
            <a:ext cx="10173182" cy="1128009"/>
          </a:xfrm>
        </p:spPr>
        <p:txBody>
          <a:bodyPr>
            <a:normAutofit/>
          </a:bodyPr>
          <a:lstStyle/>
          <a:p>
            <a:pPr algn="ctr"/>
            <a:r>
              <a:rPr lang="en-US" sz="3200" b="1" dirty="0">
                <a:latin typeface="Times New Roman" panose="02020603050405020304" pitchFamily="18" charset="0"/>
                <a:cs typeface="Times New Roman" panose="02020603050405020304" pitchFamily="18" charset="0"/>
              </a:rPr>
              <a:t>Methodology: GRU-Attention Architecture</a:t>
            </a:r>
          </a:p>
        </p:txBody>
      </p:sp>
      <p:sp>
        <p:nvSpPr>
          <p:cNvPr id="9" name="Content Placeholder 8">
            <a:extLst>
              <a:ext uri="{FF2B5EF4-FFF2-40B4-BE49-F238E27FC236}">
                <a16:creationId xmlns:a16="http://schemas.microsoft.com/office/drawing/2014/main" id="{5ED63866-CE01-54F5-1080-BE00E4768604}"/>
              </a:ext>
            </a:extLst>
          </p:cNvPr>
          <p:cNvSpPr>
            <a:spLocks noGrp="1"/>
          </p:cNvSpPr>
          <p:nvPr>
            <p:ph idx="1"/>
          </p:nvPr>
        </p:nvSpPr>
        <p:spPr>
          <a:xfrm>
            <a:off x="838200" y="1310640"/>
            <a:ext cx="10515600" cy="4866323"/>
          </a:xfrm>
        </p:spPr>
        <p:txBody>
          <a:bodyPr>
            <a:normAutofit/>
          </a:bodyPr>
          <a:lstStyle/>
          <a:p>
            <a:pPr marL="0" indent="0" algn="just">
              <a:lnSpc>
                <a:spcPct val="100000"/>
              </a:lnSpc>
              <a:buNone/>
            </a:pPr>
            <a:r>
              <a:rPr lang="en-US" sz="2000" dirty="0">
                <a:latin typeface="Times New Roman" panose="02020603050405020304" pitchFamily="18" charset="0"/>
                <a:cs typeface="Times New Roman" panose="02020603050405020304" pitchFamily="18" charset="0"/>
              </a:rPr>
              <a:t>The core of the PrivLogEdu model is a GRU network augmented with an attention mechanism.</a:t>
            </a:r>
          </a:p>
        </p:txBody>
      </p:sp>
      <p:sp>
        <p:nvSpPr>
          <p:cNvPr id="5" name="Date Placeholder 4">
            <a:extLst>
              <a:ext uri="{FF2B5EF4-FFF2-40B4-BE49-F238E27FC236}">
                <a16:creationId xmlns:a16="http://schemas.microsoft.com/office/drawing/2014/main" id="{DF9BAAE7-B7C3-6C7E-A6BF-2484C64DD843}"/>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10-11-2025</a:t>
            </a:r>
          </a:p>
        </p:txBody>
      </p:sp>
      <p:sp>
        <p:nvSpPr>
          <p:cNvPr id="6" name="Footer Placeholder 5">
            <a:extLst>
              <a:ext uri="{FF2B5EF4-FFF2-40B4-BE49-F238E27FC236}">
                <a16:creationId xmlns:a16="http://schemas.microsoft.com/office/drawing/2014/main" id="{25BABF30-BB1A-B29E-33A6-564F8020A3B0}"/>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01        Batch No. CB6           Department of CSE</a:t>
            </a:r>
          </a:p>
        </p:txBody>
      </p:sp>
      <p:sp>
        <p:nvSpPr>
          <p:cNvPr id="7" name="Slide Number Placeholder 6">
            <a:extLst>
              <a:ext uri="{FF2B5EF4-FFF2-40B4-BE49-F238E27FC236}">
                <a16:creationId xmlns:a16="http://schemas.microsoft.com/office/drawing/2014/main" id="{E4B83A7D-C662-B78B-0F6F-BC3BEFDEB9F2}"/>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12</a:t>
            </a:fld>
            <a:endParaRPr lang="en-US">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239A823B-F961-C19B-2F57-B31871B78201}"/>
              </a:ext>
            </a:extLst>
          </p:cNvPr>
          <p:cNvGraphicFramePr>
            <a:graphicFrameLocks noGrp="1"/>
          </p:cNvGraphicFramePr>
          <p:nvPr>
            <p:extLst>
              <p:ext uri="{D42A27DB-BD31-4B8C-83A1-F6EECF244321}">
                <p14:modId xmlns:p14="http://schemas.microsoft.com/office/powerpoint/2010/main" val="2816441145"/>
              </p:ext>
            </p:extLst>
          </p:nvPr>
        </p:nvGraphicFramePr>
        <p:xfrm>
          <a:off x="1854200" y="2687320"/>
          <a:ext cx="8128000" cy="28397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906598778"/>
                    </a:ext>
                  </a:extLst>
                </a:gridCol>
                <a:gridCol w="4064000">
                  <a:extLst>
                    <a:ext uri="{9D8B030D-6E8A-4147-A177-3AD203B41FA5}">
                      <a16:colId xmlns:a16="http://schemas.microsoft.com/office/drawing/2014/main" val="1422514216"/>
                    </a:ext>
                  </a:extLst>
                </a:gridCol>
              </a:tblGrid>
              <a:tr h="370840">
                <a:tc>
                  <a:txBody>
                    <a:bodyPr/>
                    <a:lstStyle/>
                    <a:p>
                      <a:r>
                        <a:rPr lang="en-IN" dirty="0"/>
                        <a:t>                   Component</a:t>
                      </a:r>
                    </a:p>
                  </a:txBody>
                  <a:tcPr/>
                </a:tc>
                <a:tc>
                  <a:txBody>
                    <a:bodyPr/>
                    <a:lstStyle/>
                    <a:p>
                      <a:r>
                        <a:rPr lang="en-IN" dirty="0"/>
                        <a:t>                       Function</a:t>
                      </a:r>
                    </a:p>
                  </a:txBody>
                  <a:tcPr/>
                </a:tc>
                <a:extLst>
                  <a:ext uri="{0D108BD9-81ED-4DB2-BD59-A6C34878D82A}">
                    <a16:rowId xmlns:a16="http://schemas.microsoft.com/office/drawing/2014/main" val="3447614844"/>
                  </a:ext>
                </a:extLst>
              </a:tr>
              <a:tr h="370840">
                <a:tc>
                  <a:txBody>
                    <a:bodyPr/>
                    <a:lstStyle/>
                    <a:p>
                      <a:r>
                        <a:rPr lang="en-IN" dirty="0"/>
                        <a:t>    GRU Network</a:t>
                      </a:r>
                    </a:p>
                  </a:txBody>
                  <a:tcPr/>
                </a:tc>
                <a:tc>
                  <a:txBody>
                    <a:bodyPr/>
                    <a:lstStyle/>
                    <a:p>
                      <a:r>
                        <a:rPr lang="en-IN" dirty="0"/>
                        <a:t>Effectively captures the temporal dependencies and sequential nature of the student’s log data.</a:t>
                      </a:r>
                    </a:p>
                  </a:txBody>
                  <a:tcPr/>
                </a:tc>
                <a:extLst>
                  <a:ext uri="{0D108BD9-81ED-4DB2-BD59-A6C34878D82A}">
                    <a16:rowId xmlns:a16="http://schemas.microsoft.com/office/drawing/2014/main" val="2636085848"/>
                  </a:ext>
                </a:extLst>
              </a:tr>
              <a:tr h="370840">
                <a:tc>
                  <a:txBody>
                    <a:bodyPr/>
                    <a:lstStyle/>
                    <a:p>
                      <a:r>
                        <a:rPr lang="en-IN" dirty="0"/>
                        <a:t>    Attention Machanism</a:t>
                      </a:r>
                    </a:p>
                  </a:txBody>
                  <a:tcPr/>
                </a:tc>
                <a:tc>
                  <a:txBody>
                    <a:bodyPr/>
                    <a:lstStyle/>
                    <a:p>
                      <a:r>
                        <a:rPr lang="en-IN" dirty="0"/>
                        <a:t>Allow the system to pay attention to the most important behavioral features or contextually relevant student actions.</a:t>
                      </a:r>
                    </a:p>
                  </a:txBody>
                  <a:tcPr/>
                </a:tc>
                <a:extLst>
                  <a:ext uri="{0D108BD9-81ED-4DB2-BD59-A6C34878D82A}">
                    <a16:rowId xmlns:a16="http://schemas.microsoft.com/office/drawing/2014/main" val="335179682"/>
                  </a:ext>
                </a:extLst>
              </a:tr>
              <a:tr h="370840">
                <a:tc>
                  <a:txBody>
                    <a:bodyPr/>
                    <a:lstStyle/>
                    <a:p>
                      <a:r>
                        <a:rPr lang="en-IN" dirty="0"/>
                        <a:t>     Output</a:t>
                      </a:r>
                    </a:p>
                  </a:txBody>
                  <a:tcPr/>
                </a:tc>
                <a:tc>
                  <a:txBody>
                    <a:bodyPr/>
                    <a:lstStyle/>
                    <a:p>
                      <a:r>
                        <a:rPr lang="en-IN" dirty="0"/>
                        <a:t>Provides engagemet classification at three levels: </a:t>
                      </a:r>
                      <a:r>
                        <a:rPr lang="en-IN" dirty="0" err="1"/>
                        <a:t>low,moderate</a:t>
                      </a:r>
                      <a:r>
                        <a:rPr lang="en-IN" dirty="0"/>
                        <a:t>, and high.</a:t>
                      </a:r>
                    </a:p>
                  </a:txBody>
                  <a:tcPr/>
                </a:tc>
                <a:extLst>
                  <a:ext uri="{0D108BD9-81ED-4DB2-BD59-A6C34878D82A}">
                    <a16:rowId xmlns:a16="http://schemas.microsoft.com/office/drawing/2014/main" val="2007854680"/>
                  </a:ext>
                </a:extLst>
              </a:tr>
            </a:tbl>
          </a:graphicData>
        </a:graphic>
      </p:graphicFrame>
    </p:spTree>
    <p:extLst>
      <p:ext uri="{BB962C8B-B14F-4D97-AF65-F5344CB8AC3E}">
        <p14:creationId xmlns:p14="http://schemas.microsoft.com/office/powerpoint/2010/main" val="6854241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0756D0-9B70-1E23-BAA0-4ABB3313AC47}"/>
              </a:ext>
            </a:extLst>
          </p:cNvPr>
          <p:cNvSpPr>
            <a:spLocks noGrp="1"/>
          </p:cNvSpPr>
          <p:nvPr>
            <p:ph type="dt" sz="half" idx="10"/>
          </p:nvPr>
        </p:nvSpPr>
        <p:spPr/>
        <p:txBody>
          <a:bodyPr/>
          <a:lstStyle/>
          <a:p>
            <a:r>
              <a:rPr lang="en-IN" dirty="0"/>
              <a:t>10-11-2025</a:t>
            </a:r>
          </a:p>
        </p:txBody>
      </p:sp>
      <p:sp>
        <p:nvSpPr>
          <p:cNvPr id="3" name="Footer Placeholder 2">
            <a:extLst>
              <a:ext uri="{FF2B5EF4-FFF2-40B4-BE49-F238E27FC236}">
                <a16:creationId xmlns:a16="http://schemas.microsoft.com/office/drawing/2014/main" id="{1FF3849D-CD4F-9F77-6966-A8B39C3549D4}"/>
              </a:ext>
            </a:extLst>
          </p:cNvPr>
          <p:cNvSpPr>
            <a:spLocks noGrp="1"/>
          </p:cNvSpPr>
          <p:nvPr>
            <p:ph type="ftr" sz="quarter" idx="11"/>
          </p:nvPr>
        </p:nvSpPr>
        <p:spPr/>
        <p:txBody>
          <a:bodyPr/>
          <a:lstStyle/>
          <a:p>
            <a:r>
              <a:rPr lang="en-US" dirty="0"/>
              <a:t>Review No. 01        Batch No. CB6           Department of CSE</a:t>
            </a:r>
            <a:endParaRPr lang="en-IN" dirty="0"/>
          </a:p>
        </p:txBody>
      </p:sp>
      <p:sp>
        <p:nvSpPr>
          <p:cNvPr id="4" name="Slide Number Placeholder 3">
            <a:extLst>
              <a:ext uri="{FF2B5EF4-FFF2-40B4-BE49-F238E27FC236}">
                <a16:creationId xmlns:a16="http://schemas.microsoft.com/office/drawing/2014/main" id="{951560FE-2FEA-AE54-9DF6-78141A70F3B9}"/>
              </a:ext>
            </a:extLst>
          </p:cNvPr>
          <p:cNvSpPr>
            <a:spLocks noGrp="1"/>
          </p:cNvSpPr>
          <p:nvPr>
            <p:ph type="sldNum" sz="quarter" idx="12"/>
          </p:nvPr>
        </p:nvSpPr>
        <p:spPr/>
        <p:txBody>
          <a:bodyPr/>
          <a:lstStyle/>
          <a:p>
            <a:fld id="{65DCBD69-296B-4D7C-AF62-9B588FC78772}" type="slidenum">
              <a:rPr lang="en-IN" smtClean="0"/>
              <a:t>13</a:t>
            </a:fld>
            <a:endParaRPr lang="en-IN"/>
          </a:p>
        </p:txBody>
      </p:sp>
      <p:pic>
        <p:nvPicPr>
          <p:cNvPr id="5" name="Picture 4">
            <a:extLst>
              <a:ext uri="{FF2B5EF4-FFF2-40B4-BE49-F238E27FC236}">
                <a16:creationId xmlns:a16="http://schemas.microsoft.com/office/drawing/2014/main" id="{9505243D-9D3E-B16D-7664-8F128469C0D7}"/>
              </a:ext>
            </a:extLst>
          </p:cNvPr>
          <p:cNvPicPr>
            <a:picLocks noChangeAspect="1"/>
          </p:cNvPicPr>
          <p:nvPr/>
        </p:nvPicPr>
        <p:blipFill>
          <a:blip r:embed="rId2"/>
          <a:stretch>
            <a:fillRect/>
          </a:stretch>
        </p:blipFill>
        <p:spPr>
          <a:xfrm>
            <a:off x="0" y="0"/>
            <a:ext cx="3762900" cy="579027"/>
          </a:xfrm>
          <a:prstGeom prst="rect">
            <a:avLst/>
          </a:prstGeom>
        </p:spPr>
      </p:pic>
      <p:sp>
        <p:nvSpPr>
          <p:cNvPr id="7" name="TextBox 6">
            <a:extLst>
              <a:ext uri="{FF2B5EF4-FFF2-40B4-BE49-F238E27FC236}">
                <a16:creationId xmlns:a16="http://schemas.microsoft.com/office/drawing/2014/main" id="{5896A253-4453-8E01-47BB-30772054AAB3}"/>
              </a:ext>
            </a:extLst>
          </p:cNvPr>
          <p:cNvSpPr txBox="1"/>
          <p:nvPr/>
        </p:nvSpPr>
        <p:spPr>
          <a:xfrm>
            <a:off x="3047223" y="579027"/>
            <a:ext cx="6097554" cy="707886"/>
          </a:xfrm>
          <a:prstGeom prst="rect">
            <a:avLst/>
          </a:prstGeom>
          <a:noFill/>
        </p:spPr>
        <p:txBody>
          <a:bodyPr wrap="square">
            <a:spAutoFit/>
          </a:bodyPr>
          <a:lstStyle/>
          <a:p>
            <a:pPr algn="ctr"/>
            <a:r>
              <a:rPr lang="en-US" sz="4000" b="1" dirty="0">
                <a:latin typeface="Times New Roman" panose="02020603050405020304" pitchFamily="18" charset="0"/>
                <a:cs typeface="Times New Roman" panose="02020603050405020304" pitchFamily="18" charset="0"/>
              </a:rPr>
              <a:t>System Requirements</a:t>
            </a:r>
            <a:endParaRPr lang="en-IN" sz="4000" dirty="0"/>
          </a:p>
        </p:txBody>
      </p:sp>
      <p:sp>
        <p:nvSpPr>
          <p:cNvPr id="9" name="TextBox 8">
            <a:extLst>
              <a:ext uri="{FF2B5EF4-FFF2-40B4-BE49-F238E27FC236}">
                <a16:creationId xmlns:a16="http://schemas.microsoft.com/office/drawing/2014/main" id="{8F3C6643-B936-C17F-5FFD-2A78A30C738B}"/>
              </a:ext>
            </a:extLst>
          </p:cNvPr>
          <p:cNvSpPr txBox="1"/>
          <p:nvPr/>
        </p:nvSpPr>
        <p:spPr>
          <a:xfrm>
            <a:off x="1388706" y="1286913"/>
            <a:ext cx="9965094" cy="4524315"/>
          </a:xfrm>
          <a:prstGeom prst="rect">
            <a:avLst/>
          </a:prstGeom>
          <a:noFill/>
        </p:spPr>
        <p:txBody>
          <a:bodyPr wrap="square">
            <a:spAutoFit/>
          </a:bodyPr>
          <a:lstStyle/>
          <a:p>
            <a:pPr>
              <a:lnSpc>
                <a:spcPct val="150000"/>
              </a:lnSpc>
              <a:buNone/>
              <a:tabLst>
                <a:tab pos="3860800" algn="l"/>
                <a:tab pos="5473700" algn="l"/>
              </a:tabLst>
            </a:pPr>
            <a:r>
              <a:rPr lang="en-US" sz="2400" b="1" dirty="0">
                <a:latin typeface="Times New Roman" panose="02020603050405020304" pitchFamily="18" charset="0"/>
                <a:cs typeface="Times New Roman" panose="02020603050405020304" pitchFamily="18" charset="0"/>
              </a:rPr>
              <a:t>Hardware Requirements</a:t>
            </a:r>
            <a:endParaRPr lang="en-IN" sz="2400" dirty="0">
              <a:latin typeface="Times New Roman" panose="02020603050405020304" pitchFamily="18" charset="0"/>
              <a:cs typeface="Times New Roman" panose="02020603050405020304" pitchFamily="18" charset="0"/>
            </a:endParaRPr>
          </a:p>
          <a:p>
            <a:pPr lvl="0" defTabSz="1041400">
              <a:tabLst>
                <a:tab pos="3860800" algn="l"/>
                <a:tab pos="5473700" algn="l"/>
              </a:tabLst>
            </a:pPr>
            <a:r>
              <a:rPr lang="en-US" sz="2400" dirty="0">
                <a:latin typeface="Times New Roman" panose="02020603050405020304" pitchFamily="18" charset="0"/>
                <a:cs typeface="Times New Roman" panose="02020603050405020304" pitchFamily="18" charset="0"/>
              </a:rPr>
              <a:t>Processor	:	intel Core i5</a:t>
            </a:r>
            <a:endParaRPr lang="en-IN" sz="2400" dirty="0">
              <a:latin typeface="Times New Roman" panose="02020603050405020304" pitchFamily="18" charset="0"/>
              <a:cs typeface="Times New Roman" panose="02020603050405020304" pitchFamily="18" charset="0"/>
            </a:endParaRPr>
          </a:p>
          <a:p>
            <a:pPr lvl="0" defTabSz="1790700">
              <a:tabLst>
                <a:tab pos="3860800" algn="l"/>
                <a:tab pos="5473700" algn="l"/>
              </a:tabLst>
            </a:pPr>
            <a:r>
              <a:rPr lang="en-US" sz="2400" dirty="0">
                <a:latin typeface="Times New Roman" panose="02020603050405020304" pitchFamily="18" charset="0"/>
                <a:cs typeface="Times New Roman" panose="02020603050405020304" pitchFamily="18" charset="0"/>
              </a:rPr>
              <a:t>Cache memory	:	4MB(Megabyte)</a:t>
            </a:r>
            <a:r>
              <a:rPr lang="en-IN" sz="2400" dirty="0">
                <a:latin typeface="Times New Roman" panose="02020603050405020304" pitchFamily="18" charset="0"/>
                <a:cs typeface="Times New Roman" panose="02020603050405020304" pitchFamily="18" charset="0"/>
              </a:rPr>
              <a:t> </a:t>
            </a:r>
          </a:p>
          <a:p>
            <a:pPr lvl="0">
              <a:tabLst>
                <a:tab pos="3860800" algn="l"/>
                <a:tab pos="5473700" algn="l"/>
              </a:tabLst>
            </a:pPr>
            <a:r>
              <a:rPr lang="en-US" sz="2400" dirty="0">
                <a:latin typeface="Times New Roman" panose="02020603050405020304" pitchFamily="18" charset="0"/>
                <a:cs typeface="Times New Roman" panose="02020603050405020304" pitchFamily="18" charset="0"/>
              </a:rPr>
              <a:t>RAM	</a:t>
            </a:r>
            <a:r>
              <a:rPr lang="en-IN"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12.7GB (gigabyte)</a:t>
            </a:r>
            <a:r>
              <a:rPr lang="en-IN" sz="2400" dirty="0">
                <a:latin typeface="Times New Roman" panose="02020603050405020304" pitchFamily="18" charset="0"/>
                <a:cs typeface="Times New Roman" panose="02020603050405020304" pitchFamily="18" charset="0"/>
              </a:rPr>
              <a:t> </a:t>
            </a:r>
          </a:p>
          <a:p>
            <a:pPr lvl="0">
              <a:tabLst>
                <a:tab pos="3860800" algn="l"/>
                <a:tab pos="5473700" algn="l"/>
              </a:tabLst>
            </a:pPr>
            <a:r>
              <a:rPr lang="en-US" sz="2400" dirty="0">
                <a:latin typeface="Times New Roman" panose="02020603050405020304" pitchFamily="18" charset="0"/>
                <a:cs typeface="Times New Roman" panose="02020603050405020304" pitchFamily="18" charset="0"/>
              </a:rPr>
              <a:t>Hard Disk</a:t>
            </a:r>
            <a:r>
              <a:rPr lang="en-IN"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166.8GB</a:t>
            </a:r>
            <a:r>
              <a:rPr lang="en-IN" sz="2400" dirty="0">
                <a:latin typeface="Times New Roman" panose="02020603050405020304" pitchFamily="18" charset="0"/>
                <a:cs typeface="Times New Roman" panose="02020603050405020304" pitchFamily="18" charset="0"/>
              </a:rPr>
              <a:t> </a:t>
            </a:r>
          </a:p>
          <a:p>
            <a:pPr lvl="0">
              <a:tabLst>
                <a:tab pos="3860800" algn="l"/>
                <a:tab pos="5473700" algn="l"/>
              </a:tabLst>
            </a:pPr>
            <a:r>
              <a:rPr lang="en-IN" sz="2400" dirty="0">
                <a:latin typeface="Times New Roman" panose="02020603050405020304" pitchFamily="18" charset="0"/>
                <a:cs typeface="Times New Roman" panose="02020603050405020304" pitchFamily="18" charset="0"/>
              </a:rPr>
              <a:t>Compute Engine      	:	T4 GPU</a:t>
            </a:r>
          </a:p>
          <a:p>
            <a:pPr lvl="0">
              <a:lnSpc>
                <a:spcPct val="150000"/>
              </a:lnSpc>
              <a:buNone/>
              <a:tabLst>
                <a:tab pos="3860800" algn="l"/>
                <a:tab pos="5473700" algn="l"/>
              </a:tabLst>
            </a:pPr>
            <a:r>
              <a:rPr lang="en-US" sz="2400" b="1" dirty="0">
                <a:latin typeface="Times New Roman" panose="02020603050405020304" pitchFamily="18" charset="0"/>
                <a:cs typeface="Times New Roman" panose="02020603050405020304" pitchFamily="18" charset="0"/>
              </a:rPr>
              <a:t>Software Requirements</a:t>
            </a:r>
            <a:endParaRPr lang="en-IN" sz="2400" dirty="0">
              <a:latin typeface="Times New Roman" panose="02020603050405020304" pitchFamily="18" charset="0"/>
              <a:cs typeface="Times New Roman" panose="02020603050405020304" pitchFamily="18" charset="0"/>
            </a:endParaRPr>
          </a:p>
          <a:p>
            <a:pPr lvl="0">
              <a:tabLst>
                <a:tab pos="3860800" algn="l"/>
                <a:tab pos="5473700" algn="l"/>
              </a:tabLst>
            </a:pPr>
            <a:r>
              <a:rPr lang="en-US" sz="2400" dirty="0">
                <a:latin typeface="Times New Roman" panose="02020603050405020304" pitchFamily="18" charset="0"/>
                <a:cs typeface="Times New Roman" panose="02020603050405020304" pitchFamily="18" charset="0"/>
              </a:rPr>
              <a:t>Operating System</a:t>
            </a:r>
            <a:r>
              <a:rPr lang="en-IN"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Windows 10, 64-bit OS</a:t>
            </a:r>
          </a:p>
          <a:p>
            <a:pPr lvl="0">
              <a:tabLst>
                <a:tab pos="3860800" algn="l"/>
                <a:tab pos="5473700" algn="l"/>
              </a:tabLst>
            </a:pPr>
            <a:r>
              <a:rPr lang="en-US" sz="2400" dirty="0">
                <a:latin typeface="Times New Roman" panose="02020603050405020304" pitchFamily="18" charset="0"/>
                <a:cs typeface="Times New Roman" panose="02020603050405020304" pitchFamily="18" charset="0"/>
              </a:rPr>
              <a:t>Coding Language</a:t>
            </a:r>
            <a:r>
              <a:rPr lang="en-IN"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Python</a:t>
            </a:r>
            <a:r>
              <a:rPr lang="en-IN" sz="2400" dirty="0">
                <a:latin typeface="Times New Roman" panose="02020603050405020304" pitchFamily="18" charset="0"/>
                <a:cs typeface="Times New Roman" panose="02020603050405020304" pitchFamily="18" charset="0"/>
              </a:rPr>
              <a:t> </a:t>
            </a:r>
          </a:p>
          <a:p>
            <a:pPr lvl="0">
              <a:tabLst>
                <a:tab pos="3860800" algn="l"/>
                <a:tab pos="5473700" algn="l"/>
              </a:tabLst>
            </a:pPr>
            <a:r>
              <a:rPr lang="en-US" sz="2400" dirty="0">
                <a:latin typeface="Times New Roman" panose="02020603050405020304" pitchFamily="18" charset="0"/>
                <a:cs typeface="Times New Roman" panose="02020603050405020304" pitchFamily="18" charset="0"/>
              </a:rPr>
              <a:t>Python distribution</a:t>
            </a:r>
            <a:r>
              <a:rPr lang="en-IN"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Google </a:t>
            </a:r>
            <a:r>
              <a:rPr lang="en-US" sz="2400" dirty="0" err="1">
                <a:latin typeface="Times New Roman" panose="02020603050405020304" pitchFamily="18" charset="0"/>
                <a:cs typeface="Times New Roman" panose="02020603050405020304" pitchFamily="18" charset="0"/>
              </a:rPr>
              <a:t>Colab</a:t>
            </a:r>
            <a:r>
              <a:rPr lang="en-US" sz="2400" dirty="0">
                <a:latin typeface="Times New Roman" panose="02020603050405020304" pitchFamily="18" charset="0"/>
                <a:cs typeface="Times New Roman" panose="02020603050405020304" pitchFamily="18" charset="0"/>
              </a:rPr>
              <a:t> Pro , Flask</a:t>
            </a:r>
            <a:r>
              <a:rPr lang="en-IN" sz="2400" dirty="0">
                <a:latin typeface="Times New Roman" panose="02020603050405020304" pitchFamily="18" charset="0"/>
                <a:cs typeface="Times New Roman" panose="02020603050405020304" pitchFamily="18" charset="0"/>
              </a:rPr>
              <a:t> </a:t>
            </a:r>
          </a:p>
          <a:p>
            <a:pPr lvl="0">
              <a:tabLst>
                <a:tab pos="3860800" algn="l"/>
                <a:tab pos="5473700" algn="l"/>
              </a:tabLst>
            </a:pPr>
            <a:r>
              <a:rPr lang="en-US" sz="2400" dirty="0">
                <a:latin typeface="Times New Roman" panose="02020603050405020304" pitchFamily="18" charset="0"/>
                <a:cs typeface="Times New Roman" panose="02020603050405020304" pitchFamily="18" charset="0"/>
              </a:rPr>
              <a:t>Browser	: 	Any Latest Browser like Chrome</a:t>
            </a:r>
            <a:r>
              <a:rPr lang="en-IN"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0578938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DAB766-D0C1-F5EC-20E0-E71C637F50AB}"/>
              </a:ext>
            </a:extLst>
          </p:cNvPr>
          <p:cNvSpPr>
            <a:spLocks noGrp="1"/>
          </p:cNvSpPr>
          <p:nvPr>
            <p:ph type="dt" sz="half" idx="10"/>
          </p:nvPr>
        </p:nvSpPr>
        <p:spPr/>
        <p:txBody>
          <a:bodyPr/>
          <a:lstStyle/>
          <a:p>
            <a:r>
              <a:rPr lang="en-IN" dirty="0"/>
              <a:t>10-11-2025</a:t>
            </a:r>
          </a:p>
        </p:txBody>
      </p:sp>
      <p:sp>
        <p:nvSpPr>
          <p:cNvPr id="3" name="Footer Placeholder 2">
            <a:extLst>
              <a:ext uri="{FF2B5EF4-FFF2-40B4-BE49-F238E27FC236}">
                <a16:creationId xmlns:a16="http://schemas.microsoft.com/office/drawing/2014/main" id="{09404040-44A9-7357-2195-F6A499B148A1}"/>
              </a:ext>
            </a:extLst>
          </p:cNvPr>
          <p:cNvSpPr>
            <a:spLocks noGrp="1"/>
          </p:cNvSpPr>
          <p:nvPr>
            <p:ph type="ftr" sz="quarter" idx="11"/>
          </p:nvPr>
        </p:nvSpPr>
        <p:spPr/>
        <p:txBody>
          <a:bodyPr/>
          <a:lstStyle/>
          <a:p>
            <a:r>
              <a:rPr lang="en-US" dirty="0"/>
              <a:t>Review No. 01        Batch No. CB6           Department of CSE</a:t>
            </a:r>
            <a:endParaRPr lang="en-IN" dirty="0"/>
          </a:p>
        </p:txBody>
      </p:sp>
      <p:sp>
        <p:nvSpPr>
          <p:cNvPr id="4" name="Slide Number Placeholder 3">
            <a:extLst>
              <a:ext uri="{FF2B5EF4-FFF2-40B4-BE49-F238E27FC236}">
                <a16:creationId xmlns:a16="http://schemas.microsoft.com/office/drawing/2014/main" id="{77D05699-97BC-9788-D728-47B691C3EF83}"/>
              </a:ext>
            </a:extLst>
          </p:cNvPr>
          <p:cNvSpPr>
            <a:spLocks noGrp="1"/>
          </p:cNvSpPr>
          <p:nvPr>
            <p:ph type="sldNum" sz="quarter" idx="12"/>
          </p:nvPr>
        </p:nvSpPr>
        <p:spPr/>
        <p:txBody>
          <a:bodyPr/>
          <a:lstStyle/>
          <a:p>
            <a:fld id="{65DCBD69-296B-4D7C-AF62-9B588FC78772}" type="slidenum">
              <a:rPr lang="en-IN" smtClean="0"/>
              <a:t>14</a:t>
            </a:fld>
            <a:endParaRPr lang="en-IN"/>
          </a:p>
        </p:txBody>
      </p:sp>
      <p:pic>
        <p:nvPicPr>
          <p:cNvPr id="5" name="Picture 4">
            <a:extLst>
              <a:ext uri="{FF2B5EF4-FFF2-40B4-BE49-F238E27FC236}">
                <a16:creationId xmlns:a16="http://schemas.microsoft.com/office/drawing/2014/main" id="{15F19E2B-3C79-E150-0A3D-06F48942CE5A}"/>
              </a:ext>
            </a:extLst>
          </p:cNvPr>
          <p:cNvPicPr>
            <a:picLocks noChangeAspect="1"/>
          </p:cNvPicPr>
          <p:nvPr/>
        </p:nvPicPr>
        <p:blipFill>
          <a:blip r:embed="rId2"/>
          <a:stretch>
            <a:fillRect/>
          </a:stretch>
        </p:blipFill>
        <p:spPr>
          <a:xfrm>
            <a:off x="0" y="136525"/>
            <a:ext cx="3762900" cy="579027"/>
          </a:xfrm>
          <a:prstGeom prst="rect">
            <a:avLst/>
          </a:prstGeom>
        </p:spPr>
      </p:pic>
      <p:sp>
        <p:nvSpPr>
          <p:cNvPr id="8" name="TextBox 7">
            <a:extLst>
              <a:ext uri="{FF2B5EF4-FFF2-40B4-BE49-F238E27FC236}">
                <a16:creationId xmlns:a16="http://schemas.microsoft.com/office/drawing/2014/main" id="{31987962-2F32-83A0-0BA1-D00A03F89518}"/>
              </a:ext>
            </a:extLst>
          </p:cNvPr>
          <p:cNvSpPr txBox="1"/>
          <p:nvPr/>
        </p:nvSpPr>
        <p:spPr>
          <a:xfrm>
            <a:off x="2295331" y="1240971"/>
            <a:ext cx="7912359" cy="5078313"/>
          </a:xfrm>
          <a:prstGeom prst="rect">
            <a:avLst/>
          </a:prstGeom>
          <a:noFill/>
        </p:spPr>
        <p:txBody>
          <a:bodyPr wrap="square" rtlCol="0">
            <a:spAutoFit/>
          </a:bodyPr>
          <a:lstStyle/>
          <a:p>
            <a:r>
              <a:rPr lang="en-IN" sz="2400" dirty="0"/>
              <a:t>                               </a:t>
            </a:r>
            <a:r>
              <a:rPr lang="en-IN" sz="3600" dirty="0"/>
              <a:t>IMPLEMENTATION</a:t>
            </a:r>
          </a:p>
          <a:p>
            <a:endParaRPr lang="en-IN" sz="2400" dirty="0"/>
          </a:p>
          <a:p>
            <a:r>
              <a:rPr lang="en-IN" sz="2400" dirty="0"/>
              <a:t>import pandas as pd, numpy as npdata = pd.read_csv('EdNet-KT1.csv')data = data.dropna()data['timestamp'] = pd.to_datetime(data['timestamp'])data = data.sort_values(['student_id','timestamp'])Each student’s session sequence is grouped and aggregated:sessions = data.groupby('student_id').apply(    lambda x: np.array_split(x, np.where(np.diff(x['timestamp'])&gt;1800)[0]+1))Feature scaling ensures numerical stability:from sklearn.preprocessing import MinMaxScalerscaler = MinMaxScaler()scaled = scaler.fit_transform(data[['time_taken']])data['scaled_time'] = scaled</a:t>
            </a:r>
          </a:p>
        </p:txBody>
      </p:sp>
    </p:spTree>
    <p:extLst>
      <p:ext uri="{BB962C8B-B14F-4D97-AF65-F5344CB8AC3E}">
        <p14:creationId xmlns:p14="http://schemas.microsoft.com/office/powerpoint/2010/main" val="4761677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3D858B-0E39-BC58-9304-4A4262EE71B4}"/>
              </a:ext>
            </a:extLst>
          </p:cNvPr>
          <p:cNvSpPr>
            <a:spLocks noGrp="1"/>
          </p:cNvSpPr>
          <p:nvPr>
            <p:ph type="dt" sz="half" idx="10"/>
          </p:nvPr>
        </p:nvSpPr>
        <p:spPr/>
        <p:txBody>
          <a:bodyPr/>
          <a:lstStyle/>
          <a:p>
            <a:fld id="{76868DE5-7FCA-479D-AADB-C9BE2C5EAF1E}" type="datetime1">
              <a:rPr lang="en-IN" smtClean="0"/>
              <a:t>10-11-2025</a:t>
            </a:fld>
            <a:endParaRPr lang="en-IN" dirty="0"/>
          </a:p>
        </p:txBody>
      </p:sp>
      <p:sp>
        <p:nvSpPr>
          <p:cNvPr id="3" name="Footer Placeholder 2">
            <a:extLst>
              <a:ext uri="{FF2B5EF4-FFF2-40B4-BE49-F238E27FC236}">
                <a16:creationId xmlns:a16="http://schemas.microsoft.com/office/drawing/2014/main" id="{042FE6AF-8D4F-5B8D-3C19-742DD7B4D855}"/>
              </a:ext>
            </a:extLst>
          </p:cNvPr>
          <p:cNvSpPr>
            <a:spLocks noGrp="1"/>
          </p:cNvSpPr>
          <p:nvPr>
            <p:ph type="ftr" sz="quarter" idx="11"/>
          </p:nvPr>
        </p:nvSpPr>
        <p:spPr/>
        <p:txBody>
          <a:bodyPr/>
          <a:lstStyle/>
          <a:p>
            <a:r>
              <a:rPr lang="en-US"/>
              <a:t>Review No. 01        Batch No. CB1           Department of CSE</a:t>
            </a:r>
            <a:endParaRPr lang="en-IN" dirty="0"/>
          </a:p>
        </p:txBody>
      </p:sp>
      <p:sp>
        <p:nvSpPr>
          <p:cNvPr id="4" name="Slide Number Placeholder 3">
            <a:extLst>
              <a:ext uri="{FF2B5EF4-FFF2-40B4-BE49-F238E27FC236}">
                <a16:creationId xmlns:a16="http://schemas.microsoft.com/office/drawing/2014/main" id="{DC7F338E-16D4-613B-D5AD-560B5F42A5B8}"/>
              </a:ext>
            </a:extLst>
          </p:cNvPr>
          <p:cNvSpPr>
            <a:spLocks noGrp="1"/>
          </p:cNvSpPr>
          <p:nvPr>
            <p:ph type="sldNum" sz="quarter" idx="12"/>
          </p:nvPr>
        </p:nvSpPr>
        <p:spPr/>
        <p:txBody>
          <a:bodyPr/>
          <a:lstStyle/>
          <a:p>
            <a:fld id="{65DCBD69-296B-4D7C-AF62-9B588FC78772}" type="slidenum">
              <a:rPr lang="en-IN" smtClean="0"/>
              <a:t>15</a:t>
            </a:fld>
            <a:endParaRPr lang="en-IN"/>
          </a:p>
        </p:txBody>
      </p:sp>
      <p:pic>
        <p:nvPicPr>
          <p:cNvPr id="5" name="Picture 4">
            <a:extLst>
              <a:ext uri="{FF2B5EF4-FFF2-40B4-BE49-F238E27FC236}">
                <a16:creationId xmlns:a16="http://schemas.microsoft.com/office/drawing/2014/main" id="{6AF87535-4F61-8E34-DB8A-C11DA147918E}"/>
              </a:ext>
            </a:extLst>
          </p:cNvPr>
          <p:cNvPicPr>
            <a:picLocks noChangeAspect="1"/>
          </p:cNvPicPr>
          <p:nvPr/>
        </p:nvPicPr>
        <p:blipFill>
          <a:blip r:embed="rId2"/>
          <a:stretch>
            <a:fillRect/>
          </a:stretch>
        </p:blipFill>
        <p:spPr>
          <a:xfrm>
            <a:off x="0" y="0"/>
            <a:ext cx="3762900" cy="579027"/>
          </a:xfrm>
          <a:prstGeom prst="rect">
            <a:avLst/>
          </a:prstGeom>
        </p:spPr>
      </p:pic>
      <p:sp>
        <p:nvSpPr>
          <p:cNvPr id="7" name="TextBox 6">
            <a:extLst>
              <a:ext uri="{FF2B5EF4-FFF2-40B4-BE49-F238E27FC236}">
                <a16:creationId xmlns:a16="http://schemas.microsoft.com/office/drawing/2014/main" id="{BF7B9F74-2244-AFAF-F85A-EC468B33AC68}"/>
              </a:ext>
            </a:extLst>
          </p:cNvPr>
          <p:cNvSpPr txBox="1"/>
          <p:nvPr/>
        </p:nvSpPr>
        <p:spPr>
          <a:xfrm>
            <a:off x="2680607" y="579027"/>
            <a:ext cx="6830785" cy="707886"/>
          </a:xfrm>
          <a:prstGeom prst="rect">
            <a:avLst/>
          </a:prstGeom>
          <a:noFill/>
        </p:spPr>
        <p:txBody>
          <a:bodyPr wrap="square">
            <a:spAutoFit/>
          </a:bodyPr>
          <a:lstStyle/>
          <a:p>
            <a:pPr algn="ctr"/>
            <a:r>
              <a:rPr lang="en-US" sz="4000" b="1" dirty="0">
                <a:latin typeface="Times New Roman" panose="02020603050405020304" pitchFamily="18" charset="0"/>
                <a:cs typeface="Times New Roman" panose="02020603050405020304" pitchFamily="18" charset="0"/>
              </a:rPr>
              <a:t>Prediction Page</a:t>
            </a:r>
            <a:endParaRPr lang="en-IN" sz="4000" dirty="0"/>
          </a:p>
        </p:txBody>
      </p:sp>
      <p:pic>
        <p:nvPicPr>
          <p:cNvPr id="11" name="Picture 10">
            <a:extLst>
              <a:ext uri="{FF2B5EF4-FFF2-40B4-BE49-F238E27FC236}">
                <a16:creationId xmlns:a16="http://schemas.microsoft.com/office/drawing/2014/main" id="{545A3753-1850-5812-C0C6-7411AC8322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361440"/>
            <a:ext cx="12192000" cy="5496559"/>
          </a:xfrm>
          <a:prstGeom prst="rect">
            <a:avLst/>
          </a:prstGeom>
        </p:spPr>
      </p:pic>
    </p:spTree>
    <p:extLst>
      <p:ext uri="{BB962C8B-B14F-4D97-AF65-F5344CB8AC3E}">
        <p14:creationId xmlns:p14="http://schemas.microsoft.com/office/powerpoint/2010/main" val="6086912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3D858B-0E39-BC58-9304-4A4262EE71B4}"/>
              </a:ext>
            </a:extLst>
          </p:cNvPr>
          <p:cNvSpPr>
            <a:spLocks noGrp="1"/>
          </p:cNvSpPr>
          <p:nvPr>
            <p:ph type="dt" sz="half" idx="10"/>
          </p:nvPr>
        </p:nvSpPr>
        <p:spPr/>
        <p:txBody>
          <a:bodyPr/>
          <a:lstStyle/>
          <a:p>
            <a:r>
              <a:rPr lang="en-IN" dirty="0"/>
              <a:t>10-11-2025</a:t>
            </a:r>
          </a:p>
        </p:txBody>
      </p:sp>
      <p:sp>
        <p:nvSpPr>
          <p:cNvPr id="3" name="Footer Placeholder 2">
            <a:extLst>
              <a:ext uri="{FF2B5EF4-FFF2-40B4-BE49-F238E27FC236}">
                <a16:creationId xmlns:a16="http://schemas.microsoft.com/office/drawing/2014/main" id="{042FE6AF-8D4F-5B8D-3C19-742DD7B4D855}"/>
              </a:ext>
            </a:extLst>
          </p:cNvPr>
          <p:cNvSpPr>
            <a:spLocks noGrp="1"/>
          </p:cNvSpPr>
          <p:nvPr>
            <p:ph type="ftr" sz="quarter" idx="11"/>
          </p:nvPr>
        </p:nvSpPr>
        <p:spPr/>
        <p:txBody>
          <a:bodyPr/>
          <a:lstStyle/>
          <a:p>
            <a:r>
              <a:rPr lang="en-US" dirty="0"/>
              <a:t>Review No. 01        Batch No. CB6           Department of CSE</a:t>
            </a:r>
            <a:endParaRPr lang="en-IN" dirty="0"/>
          </a:p>
        </p:txBody>
      </p:sp>
      <p:sp>
        <p:nvSpPr>
          <p:cNvPr id="4" name="Slide Number Placeholder 3">
            <a:extLst>
              <a:ext uri="{FF2B5EF4-FFF2-40B4-BE49-F238E27FC236}">
                <a16:creationId xmlns:a16="http://schemas.microsoft.com/office/drawing/2014/main" id="{DC7F338E-16D4-613B-D5AD-560B5F42A5B8}"/>
              </a:ext>
            </a:extLst>
          </p:cNvPr>
          <p:cNvSpPr>
            <a:spLocks noGrp="1"/>
          </p:cNvSpPr>
          <p:nvPr>
            <p:ph type="sldNum" sz="quarter" idx="12"/>
          </p:nvPr>
        </p:nvSpPr>
        <p:spPr/>
        <p:txBody>
          <a:bodyPr/>
          <a:lstStyle/>
          <a:p>
            <a:fld id="{65DCBD69-296B-4D7C-AF62-9B588FC78772}" type="slidenum">
              <a:rPr lang="en-IN" smtClean="0"/>
              <a:t>16</a:t>
            </a:fld>
            <a:endParaRPr lang="en-IN"/>
          </a:p>
        </p:txBody>
      </p:sp>
      <p:pic>
        <p:nvPicPr>
          <p:cNvPr id="5" name="Picture 4">
            <a:extLst>
              <a:ext uri="{FF2B5EF4-FFF2-40B4-BE49-F238E27FC236}">
                <a16:creationId xmlns:a16="http://schemas.microsoft.com/office/drawing/2014/main" id="{6AF87535-4F61-8E34-DB8A-C11DA147918E}"/>
              </a:ext>
            </a:extLst>
          </p:cNvPr>
          <p:cNvPicPr>
            <a:picLocks noChangeAspect="1"/>
          </p:cNvPicPr>
          <p:nvPr/>
        </p:nvPicPr>
        <p:blipFill>
          <a:blip r:embed="rId2"/>
          <a:stretch>
            <a:fillRect/>
          </a:stretch>
        </p:blipFill>
        <p:spPr>
          <a:xfrm>
            <a:off x="0" y="0"/>
            <a:ext cx="3762900" cy="579027"/>
          </a:xfrm>
          <a:prstGeom prst="rect">
            <a:avLst/>
          </a:prstGeom>
        </p:spPr>
      </p:pic>
      <p:sp>
        <p:nvSpPr>
          <p:cNvPr id="7" name="TextBox 6">
            <a:extLst>
              <a:ext uri="{FF2B5EF4-FFF2-40B4-BE49-F238E27FC236}">
                <a16:creationId xmlns:a16="http://schemas.microsoft.com/office/drawing/2014/main" id="{BF7B9F74-2244-AFAF-F85A-EC468B33AC68}"/>
              </a:ext>
            </a:extLst>
          </p:cNvPr>
          <p:cNvSpPr txBox="1"/>
          <p:nvPr/>
        </p:nvSpPr>
        <p:spPr>
          <a:xfrm>
            <a:off x="2680606" y="168797"/>
            <a:ext cx="6830785" cy="707886"/>
          </a:xfrm>
          <a:prstGeom prst="rect">
            <a:avLst/>
          </a:prstGeom>
          <a:noFill/>
        </p:spPr>
        <p:txBody>
          <a:bodyPr wrap="square">
            <a:spAutoFit/>
          </a:bodyPr>
          <a:lstStyle/>
          <a:p>
            <a:pPr algn="ctr"/>
            <a:r>
              <a:rPr lang="en-US" sz="4000" b="1" dirty="0">
                <a:latin typeface="Times New Roman" panose="02020603050405020304" pitchFamily="18" charset="0"/>
                <a:cs typeface="Times New Roman" panose="02020603050405020304" pitchFamily="18" charset="0"/>
              </a:rPr>
              <a:t>Prediction Results</a:t>
            </a:r>
            <a:endParaRPr lang="en-IN" sz="4000" dirty="0"/>
          </a:p>
        </p:txBody>
      </p:sp>
      <p:pic>
        <p:nvPicPr>
          <p:cNvPr id="8" name="Picture 7">
            <a:extLst>
              <a:ext uri="{FF2B5EF4-FFF2-40B4-BE49-F238E27FC236}">
                <a16:creationId xmlns:a16="http://schemas.microsoft.com/office/drawing/2014/main" id="{9B5B45C8-FC52-468B-1C2D-B70ACA7D63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 y="1045480"/>
            <a:ext cx="12192000" cy="6044368"/>
          </a:xfrm>
          <a:prstGeom prst="rect">
            <a:avLst/>
          </a:prstGeom>
        </p:spPr>
      </p:pic>
    </p:spTree>
    <p:extLst>
      <p:ext uri="{BB962C8B-B14F-4D97-AF65-F5344CB8AC3E}">
        <p14:creationId xmlns:p14="http://schemas.microsoft.com/office/powerpoint/2010/main" val="26719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RESULTS &amp; ANALYSIS</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502138" y="1493134"/>
            <a:ext cx="10515600" cy="4351338"/>
          </a:xfrm>
        </p:spPr>
        <p:txBody>
          <a:bodyPr>
            <a:normAutofit/>
          </a:bodyPr>
          <a:lstStyle/>
          <a:p>
            <a:pPr marL="0" indent="0">
              <a:buNone/>
            </a:pPr>
            <a:r>
              <a:rPr lang="en-US" b="1" dirty="0">
                <a:solidFill>
                  <a:srgbClr val="0C0D0F"/>
                </a:solidFill>
                <a:latin typeface="Hubot Sans Bold" pitchFamily="34" charset="0"/>
                <a:ea typeface="Hubot Sans Bold" pitchFamily="34" charset="-122"/>
                <a:cs typeface="Hubot Sans Bold" pitchFamily="34" charset="-120"/>
              </a:rPr>
              <a:t>Performance Results</a:t>
            </a:r>
            <a:endParaRPr lang="en-US" dirty="0"/>
          </a:p>
          <a:p>
            <a:pPr marL="0" indent="0">
              <a:buNone/>
            </a:pPr>
            <a:r>
              <a:rPr lang="en-US" sz="2000" dirty="0">
                <a:solidFill>
                  <a:srgbClr val="55575A"/>
                </a:solidFill>
                <a:latin typeface="Roboto Condensed" pitchFamily="34" charset="0"/>
                <a:ea typeface="Roboto Condensed" pitchFamily="34" charset="-122"/>
                <a:cs typeface="Roboto Condensed" pitchFamily="34" charset="-120"/>
              </a:rPr>
              <a:t>The model's performance was tested using accuracy, F1-score, precision, recall, and confusion matrix analysis. The final model achieved a test set accuracy of </a:t>
            </a:r>
            <a:r>
              <a:rPr lang="en-US" sz="2000" b="1" dirty="0">
                <a:solidFill>
                  <a:srgbClr val="1E1E1A"/>
                </a:solidFill>
                <a:latin typeface="Roboto Condensed" pitchFamily="34" charset="0"/>
                <a:ea typeface="Roboto Condensed" pitchFamily="34" charset="-122"/>
                <a:cs typeface="Roboto Condensed" pitchFamily="34" charset="-120"/>
              </a:rPr>
              <a:t>99.91%</a:t>
            </a:r>
            <a:r>
              <a:rPr lang="en-US" sz="2000" dirty="0">
                <a:solidFill>
                  <a:srgbClr val="55575A"/>
                </a:solidFill>
                <a:latin typeface="Roboto Condensed" pitchFamily="34" charset="0"/>
                <a:ea typeface="Roboto Condensed" pitchFamily="34" charset="-122"/>
                <a:cs typeface="Roboto Condensed" pitchFamily="34" charset="-120"/>
              </a:rPr>
              <a:t>.</a:t>
            </a:r>
            <a:endParaRPr lang="en-US" sz="2000" dirty="0">
              <a:solidFill>
                <a:srgbClr val="55575A"/>
              </a:solidFill>
              <a:ea typeface="Roboto Condensed" pitchFamily="34" charset="-122"/>
            </a:endParaRPr>
          </a:p>
          <a:p>
            <a:pPr marL="0" indent="0">
              <a:buNone/>
            </a:pPr>
            <a:r>
              <a:rPr lang="en-US" sz="2000" dirty="0">
                <a:solidFill>
                  <a:srgbClr val="55575A"/>
                </a:solidFill>
                <a:latin typeface="Roboto Condensed" pitchFamily="34" charset="0"/>
                <a:ea typeface="Roboto Condensed" pitchFamily="34" charset="-122"/>
                <a:cs typeface="Roboto Condensed" pitchFamily="34" charset="-120"/>
              </a:rPr>
              <a:t>The Classification Report shows Precision, Recall, and F1-scores of 1.00 for the "Disengaged" (0) and "Moderate" (1) classes. The Confusion Matrix confirms extremely low misclassification, with only 138 "Moderate" samples wrongly predicted as "Disengaged" and 12 "Disengaged" samples wrongly predicted as "Moderate" out of over 167,000 samples. The Training vs. Testing Performance graph shows training and testing curves converging smoothly with a minimal gap, confirming excellent stability and no overfitting.</a:t>
            </a:r>
          </a:p>
          <a:p>
            <a:pPr marL="0" indent="0">
              <a:buNone/>
            </a:pPr>
            <a:endParaRPr lang="en-US" sz="2000" dirty="0"/>
          </a:p>
          <a:p>
            <a:pPr marL="0" indent="0">
              <a:buNone/>
            </a:pPr>
            <a:endParaRPr lang="en-US" sz="2000" dirty="0"/>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10-11-2025</a:t>
            </a: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01        Batch No. CB6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17</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96908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E2638D-5B39-F226-089C-E7D226A567D6}"/>
              </a:ext>
            </a:extLst>
          </p:cNvPr>
          <p:cNvSpPr>
            <a:spLocks noGrp="1"/>
          </p:cNvSpPr>
          <p:nvPr>
            <p:ph type="dt" sz="half" idx="10"/>
          </p:nvPr>
        </p:nvSpPr>
        <p:spPr/>
        <p:txBody>
          <a:bodyPr/>
          <a:lstStyle/>
          <a:p>
            <a:r>
              <a:rPr lang="en-IN" dirty="0"/>
              <a:t>10-11-2025</a:t>
            </a:r>
          </a:p>
        </p:txBody>
      </p:sp>
      <p:sp>
        <p:nvSpPr>
          <p:cNvPr id="3" name="Footer Placeholder 2">
            <a:extLst>
              <a:ext uri="{FF2B5EF4-FFF2-40B4-BE49-F238E27FC236}">
                <a16:creationId xmlns:a16="http://schemas.microsoft.com/office/drawing/2014/main" id="{A9FF1F67-25C0-86DE-B709-E873B9E6A04E}"/>
              </a:ext>
            </a:extLst>
          </p:cNvPr>
          <p:cNvSpPr>
            <a:spLocks noGrp="1"/>
          </p:cNvSpPr>
          <p:nvPr>
            <p:ph type="ftr" sz="quarter" idx="11"/>
          </p:nvPr>
        </p:nvSpPr>
        <p:spPr/>
        <p:txBody>
          <a:bodyPr/>
          <a:lstStyle/>
          <a:p>
            <a:r>
              <a:rPr lang="en-US" dirty="0"/>
              <a:t>Review No. 01        Batch No. CB6           Department of CSE</a:t>
            </a:r>
            <a:endParaRPr lang="en-IN" dirty="0"/>
          </a:p>
        </p:txBody>
      </p:sp>
      <p:sp>
        <p:nvSpPr>
          <p:cNvPr id="4" name="Slide Number Placeholder 3">
            <a:extLst>
              <a:ext uri="{FF2B5EF4-FFF2-40B4-BE49-F238E27FC236}">
                <a16:creationId xmlns:a16="http://schemas.microsoft.com/office/drawing/2014/main" id="{1ED86305-56D6-A854-4170-3C00B7ADAA5F}"/>
              </a:ext>
            </a:extLst>
          </p:cNvPr>
          <p:cNvSpPr>
            <a:spLocks noGrp="1"/>
          </p:cNvSpPr>
          <p:nvPr>
            <p:ph type="sldNum" sz="quarter" idx="12"/>
          </p:nvPr>
        </p:nvSpPr>
        <p:spPr/>
        <p:txBody>
          <a:bodyPr/>
          <a:lstStyle/>
          <a:p>
            <a:fld id="{65DCBD69-296B-4D7C-AF62-9B588FC78772}" type="slidenum">
              <a:rPr lang="en-IN" smtClean="0"/>
              <a:t>18</a:t>
            </a:fld>
            <a:endParaRPr lang="en-IN"/>
          </a:p>
        </p:txBody>
      </p:sp>
      <p:sp>
        <p:nvSpPr>
          <p:cNvPr id="7" name="TextBox 6">
            <a:extLst>
              <a:ext uri="{FF2B5EF4-FFF2-40B4-BE49-F238E27FC236}">
                <a16:creationId xmlns:a16="http://schemas.microsoft.com/office/drawing/2014/main" id="{887182A8-26DD-4A8C-C78B-B97B4351A9D7}"/>
              </a:ext>
            </a:extLst>
          </p:cNvPr>
          <p:cNvSpPr txBox="1"/>
          <p:nvPr/>
        </p:nvSpPr>
        <p:spPr>
          <a:xfrm>
            <a:off x="274321" y="943646"/>
            <a:ext cx="2479040" cy="342786"/>
          </a:xfrm>
          <a:prstGeom prst="rect">
            <a:avLst/>
          </a:prstGeom>
          <a:noFill/>
        </p:spPr>
        <p:txBody>
          <a:bodyPr wrap="square" rtlCol="0">
            <a:spAutoFit/>
          </a:bodyPr>
          <a:lstStyle/>
          <a:p>
            <a:pPr>
              <a:lnSpc>
                <a:spcPts val="1850"/>
              </a:lnSpc>
            </a:pPr>
            <a:r>
              <a:rPr lang="en-US" sz="2000" b="1" dirty="0">
                <a:solidFill>
                  <a:srgbClr val="0C0D0F"/>
                </a:solidFill>
                <a:latin typeface="Hubot Sans Bold" pitchFamily="34" charset="0"/>
                <a:ea typeface="Hubot Sans Bold" pitchFamily="34" charset="-122"/>
                <a:cs typeface="Hubot Sans Bold" pitchFamily="34" charset="-120"/>
              </a:rPr>
              <a:t>Comparative Analysis</a:t>
            </a:r>
            <a:endParaRPr lang="en-US" sz="2000" dirty="0"/>
          </a:p>
        </p:txBody>
      </p:sp>
      <p:graphicFrame>
        <p:nvGraphicFramePr>
          <p:cNvPr id="8" name="Table 7">
            <a:extLst>
              <a:ext uri="{FF2B5EF4-FFF2-40B4-BE49-F238E27FC236}">
                <a16:creationId xmlns:a16="http://schemas.microsoft.com/office/drawing/2014/main" id="{5CB21E9A-D598-7045-3399-4975A7B512B4}"/>
              </a:ext>
            </a:extLst>
          </p:cNvPr>
          <p:cNvGraphicFramePr>
            <a:graphicFrameLocks noGrp="1"/>
          </p:cNvGraphicFramePr>
          <p:nvPr>
            <p:extLst>
              <p:ext uri="{D42A27DB-BD31-4B8C-83A1-F6EECF244321}">
                <p14:modId xmlns:p14="http://schemas.microsoft.com/office/powerpoint/2010/main" val="1283289320"/>
              </p:ext>
            </p:extLst>
          </p:nvPr>
        </p:nvGraphicFramePr>
        <p:xfrm>
          <a:off x="518160" y="1560379"/>
          <a:ext cx="11191240" cy="4271463"/>
        </p:xfrm>
        <a:graphic>
          <a:graphicData uri="http://schemas.openxmlformats.org/drawingml/2006/table">
            <a:tbl>
              <a:tblPr firstRow="1" bandRow="1">
                <a:tableStyleId>{5C22544A-7EE6-4342-B048-85BDC9FD1C3A}</a:tableStyleId>
              </a:tblPr>
              <a:tblGrid>
                <a:gridCol w="2797810">
                  <a:extLst>
                    <a:ext uri="{9D8B030D-6E8A-4147-A177-3AD203B41FA5}">
                      <a16:colId xmlns:a16="http://schemas.microsoft.com/office/drawing/2014/main" val="2224502016"/>
                    </a:ext>
                  </a:extLst>
                </a:gridCol>
                <a:gridCol w="2797810">
                  <a:extLst>
                    <a:ext uri="{9D8B030D-6E8A-4147-A177-3AD203B41FA5}">
                      <a16:colId xmlns:a16="http://schemas.microsoft.com/office/drawing/2014/main" val="1101776776"/>
                    </a:ext>
                  </a:extLst>
                </a:gridCol>
                <a:gridCol w="2797810">
                  <a:extLst>
                    <a:ext uri="{9D8B030D-6E8A-4147-A177-3AD203B41FA5}">
                      <a16:colId xmlns:a16="http://schemas.microsoft.com/office/drawing/2014/main" val="1253210190"/>
                    </a:ext>
                  </a:extLst>
                </a:gridCol>
                <a:gridCol w="2797810">
                  <a:extLst>
                    <a:ext uri="{9D8B030D-6E8A-4147-A177-3AD203B41FA5}">
                      <a16:colId xmlns:a16="http://schemas.microsoft.com/office/drawing/2014/main" val="546641865"/>
                    </a:ext>
                  </a:extLst>
                </a:gridCol>
              </a:tblGrid>
              <a:tr h="8076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Model</a:t>
                      </a:r>
                    </a:p>
                    <a:p>
                      <a:endParaRPr lang="en-IN" dirty="0"/>
                    </a:p>
                  </a:txBody>
                  <a:tcPr/>
                </a:tc>
                <a:tc>
                  <a:txBody>
                    <a:bodyPr/>
                    <a:lstStyle/>
                    <a:p>
                      <a:r>
                        <a:rPr lang="en-IN" dirty="0"/>
                        <a:t>Accuracy(%)</a:t>
                      </a:r>
                    </a:p>
                  </a:txBody>
                  <a:tcPr/>
                </a:tc>
                <a:tc>
                  <a:txBody>
                    <a:bodyPr/>
                    <a:lstStyle/>
                    <a:p>
                      <a:r>
                        <a:rPr lang="en-IN" dirty="0"/>
                        <a:t>Training Time</a:t>
                      </a:r>
                    </a:p>
                  </a:txBody>
                  <a:tcPr/>
                </a:tc>
                <a:tc>
                  <a:txBody>
                    <a:bodyPr/>
                    <a:lstStyle/>
                    <a:p>
                      <a:r>
                        <a:rPr lang="en-IN" dirty="0"/>
                        <a:t>Semantic Representation</a:t>
                      </a:r>
                    </a:p>
                  </a:txBody>
                  <a:tcPr/>
                </a:tc>
                <a:extLst>
                  <a:ext uri="{0D108BD9-81ED-4DB2-BD59-A6C34878D82A}">
                    <a16:rowId xmlns:a16="http://schemas.microsoft.com/office/drawing/2014/main" val="228739577"/>
                  </a:ext>
                </a:extLst>
              </a:tr>
              <a:tr h="751223">
                <a:tc>
                  <a:txBody>
                    <a:bodyPr/>
                    <a:lstStyle/>
                    <a:p>
                      <a:r>
                        <a:rPr lang="en-IN" dirty="0"/>
                        <a:t>Vanilla LSTM</a:t>
                      </a:r>
                    </a:p>
                  </a:txBody>
                  <a:tcPr/>
                </a:tc>
                <a:tc>
                  <a:txBody>
                    <a:bodyPr/>
                    <a:lstStyle/>
                    <a:p>
                      <a:r>
                        <a:rPr lang="en-IN" dirty="0"/>
                        <a:t>83.5</a:t>
                      </a:r>
                    </a:p>
                  </a:txBody>
                  <a:tcPr/>
                </a:tc>
                <a:tc>
                  <a:txBody>
                    <a:bodyPr/>
                    <a:lstStyle/>
                    <a:p>
                      <a:r>
                        <a:rPr lang="en-IN" dirty="0"/>
                        <a:t>Moderate</a:t>
                      </a:r>
                    </a:p>
                  </a:txBody>
                  <a:tcPr/>
                </a:tc>
                <a:tc>
                  <a:txBody>
                    <a:bodyPr/>
                    <a:lstStyle/>
                    <a:p>
                      <a:r>
                        <a:rPr lang="en-IN" dirty="0"/>
                        <a:t>Basic</a:t>
                      </a:r>
                    </a:p>
                  </a:txBody>
                  <a:tcPr/>
                </a:tc>
                <a:extLst>
                  <a:ext uri="{0D108BD9-81ED-4DB2-BD59-A6C34878D82A}">
                    <a16:rowId xmlns:a16="http://schemas.microsoft.com/office/drawing/2014/main" val="2240451030"/>
                  </a:ext>
                </a:extLst>
              </a:tr>
              <a:tr h="751223">
                <a:tc>
                  <a:txBody>
                    <a:bodyPr/>
                    <a:lstStyle/>
                    <a:p>
                      <a:r>
                        <a:rPr lang="en-IN" dirty="0"/>
                        <a:t>Vanilla GRU</a:t>
                      </a:r>
                    </a:p>
                  </a:txBody>
                  <a:tcPr/>
                </a:tc>
                <a:tc>
                  <a:txBody>
                    <a:bodyPr/>
                    <a:lstStyle/>
                    <a:p>
                      <a:r>
                        <a:rPr lang="en-IN" dirty="0"/>
                        <a:t>86.7</a:t>
                      </a:r>
                    </a:p>
                  </a:txBody>
                  <a:tcPr/>
                </a:tc>
                <a:tc>
                  <a:txBody>
                    <a:bodyPr/>
                    <a:lstStyle/>
                    <a:p>
                      <a:r>
                        <a:rPr lang="en-IN" dirty="0"/>
                        <a:t>Moderate</a:t>
                      </a:r>
                    </a:p>
                  </a:txBody>
                  <a:tcPr/>
                </a:tc>
                <a:tc>
                  <a:txBody>
                    <a:bodyPr/>
                    <a:lstStyle/>
                    <a:p>
                      <a:r>
                        <a:rPr lang="en-IN" dirty="0"/>
                        <a:t>Basic</a:t>
                      </a:r>
                    </a:p>
                  </a:txBody>
                  <a:tcPr/>
                </a:tc>
                <a:extLst>
                  <a:ext uri="{0D108BD9-81ED-4DB2-BD59-A6C34878D82A}">
                    <a16:rowId xmlns:a16="http://schemas.microsoft.com/office/drawing/2014/main" val="2561822489"/>
                  </a:ext>
                </a:extLst>
              </a:tr>
              <a:tr h="807631">
                <a:tc>
                  <a:txBody>
                    <a:bodyPr/>
                    <a:lstStyle/>
                    <a:p>
                      <a:r>
                        <a:rPr lang="en-IN" dirty="0"/>
                        <a:t>Transformed Encoder </a:t>
                      </a:r>
                    </a:p>
                  </a:txBody>
                  <a:tcPr/>
                </a:tc>
                <a:tc>
                  <a:txBody>
                    <a:bodyPr/>
                    <a:lstStyle/>
                    <a:p>
                      <a:r>
                        <a:rPr lang="en-IN" dirty="0"/>
                        <a:t>94.1</a:t>
                      </a:r>
                    </a:p>
                  </a:txBody>
                  <a:tcPr/>
                </a:tc>
                <a:tc>
                  <a:txBody>
                    <a:bodyPr/>
                    <a:lstStyle/>
                    <a:p>
                      <a:r>
                        <a:rPr lang="en-IN" dirty="0"/>
                        <a:t>High</a:t>
                      </a:r>
                    </a:p>
                  </a:txBody>
                  <a:tcPr/>
                </a:tc>
                <a:tc>
                  <a:txBody>
                    <a:bodyPr/>
                    <a:lstStyle/>
                    <a:p>
                      <a:r>
                        <a:rPr lang="en-IN" dirty="0"/>
                        <a:t>Contextual</a:t>
                      </a:r>
                    </a:p>
                  </a:txBody>
                  <a:tcPr/>
                </a:tc>
                <a:extLst>
                  <a:ext uri="{0D108BD9-81ED-4DB2-BD59-A6C34878D82A}">
                    <a16:rowId xmlns:a16="http://schemas.microsoft.com/office/drawing/2014/main" val="3532777898"/>
                  </a:ext>
                </a:extLst>
              </a:tr>
              <a:tr h="1153755">
                <a:tc>
                  <a:txBody>
                    <a:bodyPr/>
                    <a:lstStyle/>
                    <a:p>
                      <a:r>
                        <a:rPr lang="en-IN" dirty="0"/>
                        <a:t>PrivLogEdu (GRU + Attention + Skill2Vec)</a:t>
                      </a:r>
                    </a:p>
                  </a:txBody>
                  <a:tcPr/>
                </a:tc>
                <a:tc>
                  <a:txBody>
                    <a:bodyPr/>
                    <a:lstStyle/>
                    <a:p>
                      <a:r>
                        <a:rPr lang="en-IN" dirty="0"/>
                        <a:t>99.91</a:t>
                      </a:r>
                    </a:p>
                  </a:txBody>
                  <a:tcPr/>
                </a:tc>
                <a:tc>
                  <a:txBody>
                    <a:bodyPr/>
                    <a:lstStyle/>
                    <a:p>
                      <a:r>
                        <a:rPr lang="en-IN" dirty="0"/>
                        <a:t>Low</a:t>
                      </a:r>
                    </a:p>
                  </a:txBody>
                  <a:tcPr/>
                </a:tc>
                <a:tc>
                  <a:txBody>
                    <a:bodyPr/>
                    <a:lstStyle/>
                    <a:p>
                      <a:r>
                        <a:rPr lang="en-IN" dirty="0"/>
                        <a:t>Rich</a:t>
                      </a:r>
                    </a:p>
                  </a:txBody>
                  <a:tcPr/>
                </a:tc>
                <a:extLst>
                  <a:ext uri="{0D108BD9-81ED-4DB2-BD59-A6C34878D82A}">
                    <a16:rowId xmlns:a16="http://schemas.microsoft.com/office/drawing/2014/main" val="265362408"/>
                  </a:ext>
                </a:extLst>
              </a:tr>
            </a:tbl>
          </a:graphicData>
        </a:graphic>
      </p:graphicFrame>
      <p:pic>
        <p:nvPicPr>
          <p:cNvPr id="11" name="Picture 10">
            <a:extLst>
              <a:ext uri="{FF2B5EF4-FFF2-40B4-BE49-F238E27FC236}">
                <a16:creationId xmlns:a16="http://schemas.microsoft.com/office/drawing/2014/main" id="{0E05D7F6-A64E-67FD-CA28-36BC1170C7C4}"/>
              </a:ext>
            </a:extLst>
          </p:cNvPr>
          <p:cNvPicPr>
            <a:picLocks noChangeAspect="1"/>
          </p:cNvPicPr>
          <p:nvPr/>
        </p:nvPicPr>
        <p:blipFill>
          <a:blip r:embed="rId2"/>
          <a:stretch>
            <a:fillRect/>
          </a:stretch>
        </p:blipFill>
        <p:spPr>
          <a:xfrm>
            <a:off x="0" y="90674"/>
            <a:ext cx="3762900" cy="579027"/>
          </a:xfrm>
          <a:prstGeom prst="rect">
            <a:avLst/>
          </a:prstGeom>
        </p:spPr>
      </p:pic>
    </p:spTree>
    <p:extLst>
      <p:ext uri="{BB962C8B-B14F-4D97-AF65-F5344CB8AC3E}">
        <p14:creationId xmlns:p14="http://schemas.microsoft.com/office/powerpoint/2010/main" val="34091712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CONCLUSION and FUTURE SCOPE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554479"/>
            <a:ext cx="10515600" cy="4801871"/>
          </a:xfrm>
        </p:spPr>
        <p:txBody>
          <a:bodyPr>
            <a:normAutofit fontScale="92500"/>
          </a:bodyPr>
          <a:lstStyle/>
          <a:p>
            <a:pPr marL="0" indent="0" algn="just">
              <a:buNone/>
            </a:pPr>
            <a:r>
              <a:rPr lang="en-US" sz="2400" b="1" dirty="0">
                <a:solidFill>
                  <a:srgbClr val="0C0D0F"/>
                </a:solidFill>
                <a:latin typeface="Hubot Sans Bold" pitchFamily="34" charset="0"/>
                <a:ea typeface="Hubot Sans Bold" pitchFamily="34" charset="-122"/>
                <a:cs typeface="Hubot Sans Bold" pitchFamily="34" charset="-120"/>
              </a:rPr>
              <a:t>Conclusion</a:t>
            </a:r>
          </a:p>
          <a:p>
            <a:pPr marL="0" indent="0" algn="just">
              <a:buNone/>
            </a:pPr>
            <a:r>
              <a:rPr lang="en-US" sz="2000" dirty="0">
                <a:solidFill>
                  <a:srgbClr val="55575A"/>
                </a:solidFill>
                <a:latin typeface="Roboto Condensed" pitchFamily="34" charset="0"/>
                <a:ea typeface="Roboto Condensed" pitchFamily="34" charset="-122"/>
                <a:cs typeface="Roboto Condensed" pitchFamily="34" charset="-120"/>
              </a:rPr>
              <a:t>This study presented </a:t>
            </a:r>
            <a:r>
              <a:rPr lang="en-US" sz="2000" b="1" dirty="0">
                <a:solidFill>
                  <a:srgbClr val="55575A"/>
                </a:solidFill>
                <a:latin typeface="Roboto Condensed" pitchFamily="34" charset="0"/>
                <a:ea typeface="Roboto Condensed" pitchFamily="34" charset="-122"/>
                <a:cs typeface="Roboto Condensed" pitchFamily="34" charset="-120"/>
              </a:rPr>
              <a:t>PrivLogEdu</a:t>
            </a:r>
            <a:r>
              <a:rPr lang="en-US" sz="2000" dirty="0">
                <a:solidFill>
                  <a:srgbClr val="55575A"/>
                </a:solidFill>
                <a:latin typeface="Roboto Condensed" pitchFamily="34" charset="0"/>
                <a:ea typeface="Roboto Condensed" pitchFamily="34" charset="-122"/>
                <a:cs typeface="Roboto Condensed" pitchFamily="34" charset="-120"/>
              </a:rPr>
              <a:t>, a new framework for real-time, privacy-preserving engagement detection from non-visual log data. By using a </a:t>
            </a:r>
            <a:r>
              <a:rPr lang="en-US" sz="2000" b="1" dirty="0">
                <a:solidFill>
                  <a:srgbClr val="55575A"/>
                </a:solidFill>
                <a:latin typeface="Roboto Condensed" pitchFamily="34" charset="0"/>
                <a:ea typeface="Roboto Condensed" pitchFamily="34" charset="-122"/>
                <a:cs typeface="Roboto Condensed" pitchFamily="34" charset="-120"/>
              </a:rPr>
              <a:t>GRU-attention architecture with Skill2Vec embeddings</a:t>
            </a:r>
            <a:r>
              <a:rPr lang="en-US" sz="2000" dirty="0">
                <a:solidFill>
                  <a:srgbClr val="55575A"/>
                </a:solidFill>
                <a:latin typeface="Roboto Condensed" pitchFamily="34" charset="0"/>
                <a:ea typeface="Roboto Condensed" pitchFamily="34" charset="-122"/>
                <a:cs typeface="Roboto Condensed" pitchFamily="34" charset="-120"/>
              </a:rPr>
              <a:t>, the system achieved 99.91% accuracy on the EdNet-KT1 dataset. The model outperformed conventional LSTM, GRU, and Transformer models in both accuracy and ethical alignment. PrivLogEdu directly supports </a:t>
            </a:r>
            <a:r>
              <a:rPr lang="en-US" sz="2000" b="1" dirty="0">
                <a:solidFill>
                  <a:srgbClr val="55575A"/>
                </a:solidFill>
                <a:latin typeface="Roboto Condensed" pitchFamily="34" charset="0"/>
                <a:ea typeface="Roboto Condensed" pitchFamily="34" charset="-122"/>
                <a:cs typeface="Roboto Condensed" pitchFamily="34" charset="-120"/>
              </a:rPr>
              <a:t>SDG Goal 4</a:t>
            </a:r>
            <a:r>
              <a:rPr lang="en-US" sz="2000" dirty="0">
                <a:solidFill>
                  <a:srgbClr val="55575A"/>
                </a:solidFill>
                <a:latin typeface="Roboto Condensed" pitchFamily="34" charset="0"/>
                <a:ea typeface="Roboto Condensed" pitchFamily="34" charset="-122"/>
                <a:cs typeface="Roboto Condensed" pitchFamily="34" charset="-120"/>
              </a:rPr>
              <a:t> by enabling scalable, effective, and ethical AI in education that protects student privacy.</a:t>
            </a:r>
          </a:p>
          <a:p>
            <a:pPr marL="0" indent="0" algn="just">
              <a:buNone/>
            </a:pPr>
            <a:r>
              <a:rPr lang="en-US" sz="2400" b="1" dirty="0">
                <a:solidFill>
                  <a:srgbClr val="0C0D0F"/>
                </a:solidFill>
                <a:latin typeface="Hubot Sans Bold" pitchFamily="34" charset="0"/>
                <a:ea typeface="Hubot Sans Bold" pitchFamily="34" charset="-122"/>
                <a:cs typeface="Hubot Sans Bold" pitchFamily="34" charset="-120"/>
              </a:rPr>
              <a:t>Future Scope</a:t>
            </a:r>
            <a:endParaRPr lang="en-US" sz="2400" dirty="0"/>
          </a:p>
          <a:p>
            <a:pPr algn="just"/>
            <a:r>
              <a:rPr lang="en-US" sz="2000" dirty="0">
                <a:solidFill>
                  <a:srgbClr val="55575A"/>
                </a:solidFill>
                <a:latin typeface="Roboto Condensed" pitchFamily="34" charset="0"/>
                <a:ea typeface="Roboto Condensed" pitchFamily="34" charset="-122"/>
                <a:cs typeface="Roboto Condensed" pitchFamily="34" charset="-120"/>
              </a:rPr>
              <a:t>Extend and validate the model on additional datasets, including K-12 and university-level environments</a:t>
            </a:r>
            <a:endParaRPr lang="en-US" sz="2000" dirty="0"/>
          </a:p>
          <a:p>
            <a:pPr algn="just"/>
            <a:r>
              <a:rPr lang="en-US" sz="2000" dirty="0">
                <a:solidFill>
                  <a:srgbClr val="55575A"/>
                </a:solidFill>
                <a:latin typeface="Roboto Condensed" pitchFamily="34" charset="0"/>
                <a:ea typeface="Roboto Condensed" pitchFamily="34" charset="-122"/>
                <a:cs typeface="Roboto Condensed" pitchFamily="34" charset="-120"/>
              </a:rPr>
              <a:t>Integrate multi-modal non-visual data streams, such as keystroke patterns and navigation history</a:t>
            </a:r>
            <a:endParaRPr lang="en-US" sz="2000" dirty="0"/>
          </a:p>
          <a:p>
            <a:pPr algn="just"/>
            <a:r>
              <a:rPr lang="en-US" sz="2000" dirty="0">
                <a:solidFill>
                  <a:srgbClr val="55575A"/>
                </a:solidFill>
                <a:latin typeface="Roboto Condensed" pitchFamily="34" charset="0"/>
                <a:ea typeface="Roboto Condensed" pitchFamily="34" charset="-122"/>
                <a:cs typeface="Roboto Condensed" pitchFamily="34" charset="-120"/>
              </a:rPr>
              <a:t>Explore federated learning methods to train models </a:t>
            </a:r>
            <a:r>
              <a:rPr lang="en-US" sz="2000" dirty="0" err="1">
                <a:solidFill>
                  <a:srgbClr val="55575A"/>
                </a:solidFill>
                <a:latin typeface="Roboto Condensed" pitchFamily="34" charset="0"/>
                <a:ea typeface="Roboto Condensed" pitchFamily="34" charset="-122"/>
                <a:cs typeface="Roboto Condensed" pitchFamily="34" charset="-120"/>
              </a:rPr>
              <a:t>decentrally</a:t>
            </a:r>
            <a:r>
              <a:rPr lang="en-US" sz="2000" dirty="0">
                <a:solidFill>
                  <a:srgbClr val="55575A"/>
                </a:solidFill>
                <a:latin typeface="Roboto Condensed" pitchFamily="34" charset="0"/>
                <a:ea typeface="Roboto Condensed" pitchFamily="34" charset="-122"/>
                <a:cs typeface="Roboto Condensed" pitchFamily="34" charset="-120"/>
              </a:rPr>
              <a:t> across institutions without sacrificing privacy</a:t>
            </a:r>
            <a:endParaRPr lang="en-US" sz="2000" dirty="0"/>
          </a:p>
          <a:p>
            <a:pPr marL="0" indent="0" algn="just">
              <a:buNone/>
            </a:pPr>
            <a:r>
              <a:rPr lang="en-US" sz="2000" dirty="0">
                <a:solidFill>
                  <a:srgbClr val="55575A"/>
                </a:solidFill>
                <a:latin typeface="Roboto Condensed" pitchFamily="34" charset="0"/>
                <a:ea typeface="Roboto Condensed" pitchFamily="34" charset="-122"/>
                <a:cs typeface="Roboto Condensed" pitchFamily="34" charset="-120"/>
              </a:rPr>
              <a:t>We would like to express our sincere gratitude to the faculty and staff of Narasaraopeta Engineering College for their guidance and encouragement throughout the development of this project. Their insights and expertise have been invaluable.</a:t>
            </a:r>
            <a:endParaRPr lang="en-US" sz="2000" dirty="0"/>
          </a:p>
          <a:p>
            <a:pPr marL="0" indent="0" algn="just">
              <a:buNone/>
            </a:pPr>
            <a:endParaRPr lang="en-US" sz="2000" dirty="0"/>
          </a:p>
          <a:p>
            <a:pPr marL="0" indent="0" algn="just">
              <a:buNone/>
            </a:pPr>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10-11-2025</a:t>
            </a: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01        Batch No. CB6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19</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11037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REFERENCES</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266890"/>
            <a:ext cx="10615367" cy="5089460"/>
          </a:xfrm>
        </p:spPr>
        <p:txBody>
          <a:bodyPr>
            <a:noAutofit/>
          </a:bodyPr>
          <a:lstStyle/>
          <a:p>
            <a:pPr marL="457200" indent="-457200">
              <a:buFont typeface="+mj-lt"/>
              <a:buAutoNum type="arabicPeriod"/>
            </a:pPr>
            <a:r>
              <a:rPr lang="en-IN" sz="2000" dirty="0"/>
              <a:t>A. Kumar, R. Patel, and M. Sharma, “Federated engagement prediction in hybrid classrooms using                         non-visual interaction data,” IEEE Trans. Learn. Technol., vol. 18, no. 3, pp. 452–463, May 2025. </a:t>
            </a:r>
          </a:p>
          <a:p>
            <a:pPr marL="457200" indent="-457200">
              <a:buFont typeface="+mj-lt"/>
              <a:buAutoNum type="arabicPeriod"/>
            </a:pPr>
            <a:r>
              <a:rPr lang="en-IN" sz="2000" dirty="0"/>
              <a:t>X. Li, H. Chen, and Y. Sun, “Privacy-aware student behavior modeling using sequence-based log analytics,” Comput. Educ., vol. 198, pp. 104–116, Feb. 2025. </a:t>
            </a:r>
          </a:p>
          <a:p>
            <a:pPr marL="457200" indent="-457200">
              <a:buFont typeface="+mj-lt"/>
              <a:buAutoNum type="arabicPeriod"/>
            </a:pPr>
            <a:r>
              <a:rPr lang="en-IN" sz="2000" dirty="0"/>
              <a:t>J. Lee, S. Choi, and P. Kang, “Challenges of visual emotion detection in online education: Lighting, occlusion, and cultural bias,” IEEE Access, vol. 13, pp. 50122–50134, 2025.</a:t>
            </a:r>
          </a:p>
          <a:p>
            <a:pPr marL="457200" indent="-457200">
              <a:buFont typeface="+mj-lt"/>
              <a:buAutoNum type="arabicPeriod"/>
            </a:pPr>
            <a:r>
              <a:rPr lang="en-IN" sz="2000" dirty="0"/>
              <a:t> A. Alzahrani, M. Alharthi, and L. Shao, “Non-intrusive behavioral features for scalable engagement detection,” Int. J. Artif. Intell. Educ., vol. 35, pp. 143–160, 2025.</a:t>
            </a:r>
          </a:p>
          <a:p>
            <a:pPr marL="457200" indent="-457200">
              <a:buFont typeface="+mj-lt"/>
              <a:buAutoNum type="arabicPeriod"/>
            </a:pPr>
            <a:r>
              <a:rPr lang="en-IN" sz="2000" dirty="0"/>
              <a:t>Z. Wang, F. Liu, and C. Zhang, “Transformer-enhanced temporal models for student engagement analysis on EdNet,” Proc. IEEE Int. Conf. AIED, pp. 211–219, 2025.</a:t>
            </a:r>
          </a:p>
          <a:p>
            <a:pPr marL="457200" indent="-457200">
              <a:buFont typeface="+mj-lt"/>
              <a:buAutoNum type="arabicPeriod"/>
            </a:pPr>
            <a:r>
              <a:rPr lang="en-IN" sz="2000" dirty="0"/>
              <a:t>P. Singh and D. Arora, “Statistical feature engineering for log-based educational data mining,” J. Educ. Data Sci., vol. 12, no. 1, pp. 77–89, 2024.</a:t>
            </a:r>
          </a:p>
          <a:p>
            <a:pPr marL="457200" indent="-457200">
              <a:buFont typeface="+mj-lt"/>
              <a:buAutoNum type="arabicPeriod"/>
            </a:pPr>
            <a:r>
              <a:rPr lang="en-IN" sz="2000" dirty="0"/>
              <a:t>M. Huang, Y. Zhao, and X. Wu, “Skill graph neural networks for personalized learning analytics,” IEEE Trans. Knowl. Data Eng., vol. 37, no. 8, pp. 920–933, Aug. 2024.</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10-11-2025</a:t>
            </a: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01        Batch No. CB6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20</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34945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8CA6F2-46CF-8B3D-1474-FCF866850D08}"/>
              </a:ext>
            </a:extLst>
          </p:cNvPr>
          <p:cNvSpPr>
            <a:spLocks noGrp="1"/>
          </p:cNvSpPr>
          <p:nvPr>
            <p:ph idx="1"/>
          </p:nvPr>
        </p:nvSpPr>
        <p:spPr>
          <a:xfrm>
            <a:off x="838200" y="647272"/>
            <a:ext cx="10515600" cy="5589141"/>
          </a:xfrm>
        </p:spPr>
        <p:txBody>
          <a:bodyPr>
            <a:noAutofit/>
          </a:bodyPr>
          <a:lstStyle/>
          <a:p>
            <a:pPr marL="0" indent="0">
              <a:buNone/>
            </a:pPr>
            <a:r>
              <a:rPr lang="en-IN" sz="2000" dirty="0"/>
              <a:t>8.Q. Chen, L. Han, and S. Zhou, “Behavioral analytics versus visual analytics: A comparative review for engagement detection,” Comput. Educ. Rev., vol. 64, pp. 29–46, 2024.</a:t>
            </a:r>
          </a:p>
          <a:p>
            <a:pPr marL="0" indent="0">
              <a:buNone/>
            </a:pPr>
            <a:r>
              <a:rPr lang="en-IN" sz="2000" dirty="0"/>
              <a:t>9.R. Wu, H. Liu, and J. Park, “Attention-augmented GRU models for educational sequence   prediction,” IEEE Access, vol. 12, pp. 102344–102357, 2024.</a:t>
            </a:r>
          </a:p>
          <a:p>
            <a:pPr marL="0" indent="0">
              <a:buNone/>
            </a:pPr>
            <a:r>
              <a:rPr lang="en-IN" sz="2000" dirty="0"/>
              <a:t>10.S. Zhang, Y. Tan, and F. Xie, “Improving EdNet engagement prediction using transformer-based self-attention,” Proc. Int. Conf. EDM, pp. 98–107, 2024.</a:t>
            </a:r>
          </a:p>
          <a:p>
            <a:pPr marL="0" indent="0">
              <a:buNone/>
            </a:pPr>
            <a:r>
              <a:rPr lang="en-IN" sz="2000" dirty="0"/>
              <a:t>11.M. Zhao, K. Cho, and T. Lee, “Differentially private engagement monitoring for K-12 platforms,” IEEE Trans. Inf. Forensics </a:t>
            </a:r>
            <a:r>
              <a:rPr lang="en-IN" sz="2000" dirty="0" err="1"/>
              <a:t>Secur</a:t>
            </a:r>
            <a:r>
              <a:rPr lang="en-IN" sz="2000" dirty="0"/>
              <a:t>., vol. 19, pp. 667–681, Jan. 2024.</a:t>
            </a:r>
          </a:p>
          <a:p>
            <a:pPr marL="0" indent="0">
              <a:buNone/>
            </a:pPr>
            <a:r>
              <a:rPr lang="en-IN" sz="2000" dirty="0"/>
              <a:t>12.H. Park and Y. Ryu, “Secure aggregation methods for federated learn </a:t>
            </a:r>
            <a:r>
              <a:rPr lang="en-IN" sz="2000" dirty="0" err="1"/>
              <a:t>ing</a:t>
            </a:r>
            <a:r>
              <a:rPr lang="en-IN" sz="2000" dirty="0"/>
              <a:t> in educational AI,” IEEE Internet Things J., vol. 11, no. 5, pp. 4321–4332, 2024.</a:t>
            </a:r>
          </a:p>
          <a:p>
            <a:pPr marL="0" indent="0">
              <a:buNone/>
            </a:pPr>
            <a:r>
              <a:rPr lang="en-IN" sz="2000" dirty="0"/>
              <a:t>13.M. Chen, “Self-supervised skill embeddings for large-scale education datasets,” ACM Learn. Analytics Conf., pp. 12–21, 2023.</a:t>
            </a:r>
          </a:p>
          <a:p>
            <a:pPr marL="0" indent="0">
              <a:buNone/>
            </a:pPr>
            <a:r>
              <a:rPr lang="en-IN" sz="2000" dirty="0"/>
              <a:t>14.V. Gupta and S. Banerjee, “Session-level learning analytics for adaptive tutoring,” Proc. IEEE           ICALT, pp. 56–63, 2023.</a:t>
            </a:r>
          </a:p>
          <a:p>
            <a:pPr marL="0" indent="0">
              <a:buNone/>
            </a:pPr>
            <a:r>
              <a:rPr lang="en-US" sz="2000" dirty="0"/>
              <a:t>15.M. Johnson, P. D’Silva, and T. Rao, “Multi-class engagement detection for MOOCs: Challenges and solutions,” Comput. Educ., vol. 194, pp. 102–115, 2023.</a:t>
            </a:r>
            <a:endParaRPr lang="en-IN"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F672DEC9-4107-FBD8-6A00-40028DCA4180}"/>
              </a:ext>
            </a:extLst>
          </p:cNvPr>
          <p:cNvSpPr>
            <a:spLocks noGrp="1"/>
          </p:cNvSpPr>
          <p:nvPr>
            <p:ph type="dt" sz="half" idx="10"/>
          </p:nvPr>
        </p:nvSpPr>
        <p:spPr/>
        <p:txBody>
          <a:bodyPr/>
          <a:lstStyle/>
          <a:p>
            <a:r>
              <a:rPr lang="en-IN" dirty="0"/>
              <a:t>10-11-2025</a:t>
            </a:r>
          </a:p>
        </p:txBody>
      </p:sp>
      <p:sp>
        <p:nvSpPr>
          <p:cNvPr id="5" name="Footer Placeholder 4">
            <a:extLst>
              <a:ext uri="{FF2B5EF4-FFF2-40B4-BE49-F238E27FC236}">
                <a16:creationId xmlns:a16="http://schemas.microsoft.com/office/drawing/2014/main" id="{252EAEE7-C887-BE80-DE6D-2413F7F50D91}"/>
              </a:ext>
            </a:extLst>
          </p:cNvPr>
          <p:cNvSpPr>
            <a:spLocks noGrp="1"/>
          </p:cNvSpPr>
          <p:nvPr>
            <p:ph type="ftr" sz="quarter" idx="11"/>
          </p:nvPr>
        </p:nvSpPr>
        <p:spPr/>
        <p:txBody>
          <a:bodyPr/>
          <a:lstStyle/>
          <a:p>
            <a:r>
              <a:rPr lang="en-US" dirty="0"/>
              <a:t>Review No. 01        Batch No. CB6           Department of CSE</a:t>
            </a:r>
            <a:endParaRPr lang="en-IN" dirty="0"/>
          </a:p>
        </p:txBody>
      </p:sp>
      <p:sp>
        <p:nvSpPr>
          <p:cNvPr id="6" name="Slide Number Placeholder 5">
            <a:extLst>
              <a:ext uri="{FF2B5EF4-FFF2-40B4-BE49-F238E27FC236}">
                <a16:creationId xmlns:a16="http://schemas.microsoft.com/office/drawing/2014/main" id="{DEA736B9-D9FA-5BB4-6F3D-DD2C228CC936}"/>
              </a:ext>
            </a:extLst>
          </p:cNvPr>
          <p:cNvSpPr>
            <a:spLocks noGrp="1"/>
          </p:cNvSpPr>
          <p:nvPr>
            <p:ph type="sldNum" sz="quarter" idx="12"/>
          </p:nvPr>
        </p:nvSpPr>
        <p:spPr/>
        <p:txBody>
          <a:bodyPr/>
          <a:lstStyle/>
          <a:p>
            <a:fld id="{65DCBD69-296B-4D7C-AF62-9B588FC78772}" type="slidenum">
              <a:rPr lang="en-IN" smtClean="0"/>
              <a:t>21</a:t>
            </a:fld>
            <a:endParaRPr lang="en-IN"/>
          </a:p>
        </p:txBody>
      </p:sp>
    </p:spTree>
    <p:extLst>
      <p:ext uri="{BB962C8B-B14F-4D97-AF65-F5344CB8AC3E}">
        <p14:creationId xmlns:p14="http://schemas.microsoft.com/office/powerpoint/2010/main" val="4384932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8CA6F2-46CF-8B3D-1474-FCF866850D08}"/>
              </a:ext>
            </a:extLst>
          </p:cNvPr>
          <p:cNvSpPr>
            <a:spLocks noGrp="1"/>
          </p:cNvSpPr>
          <p:nvPr>
            <p:ph idx="1"/>
          </p:nvPr>
        </p:nvSpPr>
        <p:spPr>
          <a:xfrm>
            <a:off x="838200" y="647272"/>
            <a:ext cx="10515600" cy="5589141"/>
          </a:xfrm>
        </p:spPr>
        <p:txBody>
          <a:bodyPr>
            <a:noAutofit/>
          </a:bodyPr>
          <a:lstStyle/>
          <a:p>
            <a:pPr marL="457200" indent="-457200">
              <a:buFont typeface="+mj-lt"/>
              <a:buAutoNum type="arabicPeriod" startAt="11"/>
            </a:pPr>
            <a:endParaRPr lang="en-IN" sz="2000" dirty="0">
              <a:latin typeface="Times New Roman" panose="02020603050405020304" pitchFamily="18" charset="0"/>
              <a:cs typeface="Times New Roman" panose="02020603050405020304" pitchFamily="18" charset="0"/>
            </a:endParaRPr>
          </a:p>
          <a:p>
            <a:pPr marL="0" indent="0">
              <a:buNone/>
            </a:pPr>
            <a:r>
              <a:rPr lang="en-IN" sz="2000" dirty="0"/>
              <a:t>16.A. Das and R. Kulkarni, “Analyzing log sequence embeddings for </a:t>
            </a:r>
            <a:r>
              <a:rPr lang="en-IN" sz="2000" dirty="0" err="1"/>
              <a:t>stu</a:t>
            </a:r>
            <a:r>
              <a:rPr lang="en-IN" sz="2000" dirty="0"/>
              <a:t> dent performance prediction,” IEEE Access, vol. 11, pp. 45321–45334, 2023.</a:t>
            </a:r>
          </a:p>
          <a:p>
            <a:pPr marL="0" indent="0">
              <a:buNone/>
            </a:pPr>
            <a:r>
              <a:rPr lang="en-IN" sz="2000" dirty="0"/>
              <a:t>17.M. Lee, “Comparative evaluation of RNN, GRU, and transformer architectures for temporal student data,” Proc. Int. Conf. AIED, pp. 210–220, 2023.</a:t>
            </a:r>
          </a:p>
          <a:p>
            <a:pPr marL="0" indent="0">
              <a:buNone/>
            </a:pPr>
            <a:r>
              <a:rPr lang="en-IN" sz="2000" dirty="0"/>
              <a:t>18.J. Park, “Bridging accuracy and privacy in engagement recognition models,” IEEE Trans. Learn. Technol., vol. 16, no. 4, pp. 670–683, Oct. 2023.</a:t>
            </a:r>
          </a:p>
          <a:p>
            <a:pPr marL="0" indent="0">
              <a:buNone/>
            </a:pPr>
            <a:r>
              <a:rPr lang="en-IN" sz="2000" dirty="0"/>
              <a:t>19.An Iterative Data-Driven Intelligent Multiple-Attribute Decision Making for Football Teaching Quality, 2023.</a:t>
            </a:r>
          </a:p>
          <a:p>
            <a:pPr marL="0" indent="0">
              <a:buNone/>
            </a:pPr>
            <a:r>
              <a:rPr lang="en-IN" sz="2000" dirty="0"/>
              <a:t>20.Competency-Based Hybrid Learning: A Modern Approach to Teaching Programming and Digital Technologies, 2023</a:t>
            </a:r>
          </a:p>
          <a:p>
            <a:pPr marL="457200" indent="-457200">
              <a:buFont typeface="+mj-lt"/>
              <a:buAutoNum type="arabicPeriod" startAt="11"/>
            </a:pPr>
            <a:endParaRPr lang="en-IN"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F672DEC9-4107-FBD8-6A00-40028DCA4180}"/>
              </a:ext>
            </a:extLst>
          </p:cNvPr>
          <p:cNvSpPr>
            <a:spLocks noGrp="1"/>
          </p:cNvSpPr>
          <p:nvPr>
            <p:ph type="dt" sz="half" idx="10"/>
          </p:nvPr>
        </p:nvSpPr>
        <p:spPr/>
        <p:txBody>
          <a:bodyPr/>
          <a:lstStyle/>
          <a:p>
            <a:r>
              <a:rPr lang="en-IN" dirty="0"/>
              <a:t>10-11-2025</a:t>
            </a:r>
          </a:p>
        </p:txBody>
      </p:sp>
      <p:sp>
        <p:nvSpPr>
          <p:cNvPr id="5" name="Footer Placeholder 4">
            <a:extLst>
              <a:ext uri="{FF2B5EF4-FFF2-40B4-BE49-F238E27FC236}">
                <a16:creationId xmlns:a16="http://schemas.microsoft.com/office/drawing/2014/main" id="{252EAEE7-C887-BE80-DE6D-2413F7F50D91}"/>
              </a:ext>
            </a:extLst>
          </p:cNvPr>
          <p:cNvSpPr>
            <a:spLocks noGrp="1"/>
          </p:cNvSpPr>
          <p:nvPr>
            <p:ph type="ftr" sz="quarter" idx="11"/>
          </p:nvPr>
        </p:nvSpPr>
        <p:spPr/>
        <p:txBody>
          <a:bodyPr/>
          <a:lstStyle/>
          <a:p>
            <a:r>
              <a:rPr lang="en-US" dirty="0"/>
              <a:t>Review No. 01        Batch No. CB6           Department of CSE</a:t>
            </a:r>
            <a:endParaRPr lang="en-IN" dirty="0"/>
          </a:p>
        </p:txBody>
      </p:sp>
      <p:sp>
        <p:nvSpPr>
          <p:cNvPr id="6" name="Slide Number Placeholder 5">
            <a:extLst>
              <a:ext uri="{FF2B5EF4-FFF2-40B4-BE49-F238E27FC236}">
                <a16:creationId xmlns:a16="http://schemas.microsoft.com/office/drawing/2014/main" id="{DEA736B9-D9FA-5BB4-6F3D-DD2C228CC936}"/>
              </a:ext>
            </a:extLst>
          </p:cNvPr>
          <p:cNvSpPr>
            <a:spLocks noGrp="1"/>
          </p:cNvSpPr>
          <p:nvPr>
            <p:ph type="sldNum" sz="quarter" idx="12"/>
          </p:nvPr>
        </p:nvSpPr>
        <p:spPr/>
        <p:txBody>
          <a:bodyPr/>
          <a:lstStyle/>
          <a:p>
            <a:fld id="{65DCBD69-296B-4D7C-AF62-9B588FC78772}" type="slidenum">
              <a:rPr lang="en-IN" smtClean="0"/>
              <a:t>22</a:t>
            </a:fld>
            <a:endParaRPr lang="en-IN"/>
          </a:p>
        </p:txBody>
      </p:sp>
      <p:sp>
        <p:nvSpPr>
          <p:cNvPr id="7" name="TextBox 6">
            <a:extLst>
              <a:ext uri="{FF2B5EF4-FFF2-40B4-BE49-F238E27FC236}">
                <a16:creationId xmlns:a16="http://schemas.microsoft.com/office/drawing/2014/main" id="{0DDE7B5E-60CB-00D9-60E8-7C83ADD22723}"/>
              </a:ext>
            </a:extLst>
          </p:cNvPr>
          <p:cNvSpPr txBox="1"/>
          <p:nvPr/>
        </p:nvSpPr>
        <p:spPr>
          <a:xfrm>
            <a:off x="3048000" y="2967335"/>
            <a:ext cx="6096000" cy="369332"/>
          </a:xfrm>
          <a:prstGeom prst="rect">
            <a:avLst/>
          </a:prstGeom>
          <a:noFill/>
        </p:spPr>
        <p:txBody>
          <a:bodyPr wrap="square">
            <a:spAutoFit/>
          </a:bodyPr>
          <a:lstStyle/>
          <a:p>
            <a:r>
              <a:rPr lang="en-IN" dirty="0"/>
              <a:t>[</a:t>
            </a:r>
          </a:p>
        </p:txBody>
      </p:sp>
    </p:spTree>
    <p:extLst>
      <p:ext uri="{BB962C8B-B14F-4D97-AF65-F5344CB8AC3E}">
        <p14:creationId xmlns:p14="http://schemas.microsoft.com/office/powerpoint/2010/main" val="26032667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ACKNOWLEDGEMENT</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62536" y="1424016"/>
            <a:ext cx="11079568" cy="4932334"/>
          </a:xfrm>
        </p:spPr>
        <p:txBody>
          <a:bodyPr>
            <a:noAutofit/>
          </a:bodyPr>
          <a:lstStyle/>
          <a:p>
            <a:pPr algn="just"/>
            <a:r>
              <a:rPr lang="en-US" sz="2300" dirty="0">
                <a:latin typeface="Times New Roman" panose="02020603050405020304" pitchFamily="18" charset="0"/>
                <a:cs typeface="Times New Roman" panose="02020603050405020304" pitchFamily="18" charset="0"/>
              </a:rPr>
              <a:t>We would like to express our sincere gratitude to the faculty and staff of </a:t>
            </a:r>
            <a:r>
              <a:rPr lang="en-US" sz="2300" dirty="0" err="1">
                <a:latin typeface="Times New Roman" panose="02020603050405020304" pitchFamily="18" charset="0"/>
                <a:cs typeface="Times New Roman" panose="02020603050405020304" pitchFamily="18" charset="0"/>
              </a:rPr>
              <a:t>Narasaraopeta</a:t>
            </a:r>
            <a:r>
              <a:rPr lang="en-US" sz="2300" dirty="0">
                <a:latin typeface="Times New Roman" panose="02020603050405020304" pitchFamily="18" charset="0"/>
                <a:cs typeface="Times New Roman" panose="02020603050405020304" pitchFamily="18" charset="0"/>
              </a:rPr>
              <a:t> Engineering College for their guidance and encouragement throughout the development of this project. Their insights and expertise have been invaluable.</a:t>
            </a:r>
          </a:p>
          <a:p>
            <a:pPr algn="just"/>
            <a:r>
              <a:rPr lang="en-US" sz="2300" dirty="0">
                <a:latin typeface="Times New Roman" panose="02020603050405020304" pitchFamily="18" charset="0"/>
                <a:cs typeface="Times New Roman" panose="02020603050405020304" pitchFamily="18" charset="0"/>
              </a:rPr>
              <a:t>We also extend our thanks to the administration for providing the necessary resources and a platform to showcase our work. This opportunity has been instrumental in enhancing our learning and growth.</a:t>
            </a:r>
          </a:p>
          <a:p>
            <a:pPr marL="0" indent="0">
              <a:buNone/>
            </a:pPr>
            <a:br>
              <a:rPr lang="en-US" sz="2300" dirty="0">
                <a:latin typeface="Times New Roman" panose="02020603050405020304" pitchFamily="18" charset="0"/>
                <a:cs typeface="Times New Roman" panose="02020603050405020304" pitchFamily="18" charset="0"/>
              </a:rPr>
            </a:br>
            <a:endParaRPr lang="en-US" sz="2300" dirty="0">
              <a:latin typeface="Times New Roman" panose="02020603050405020304" pitchFamily="18" charset="0"/>
              <a:cs typeface="Times New Roman" panose="02020603050405020304" pitchFamily="18" charset="0"/>
            </a:endParaRPr>
          </a:p>
          <a:p>
            <a:pPr marL="0" indent="0">
              <a:buNone/>
            </a:pPr>
            <a:endParaRPr lang="en-US" sz="23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IN" dirty="0"/>
              <a:t>10-11-2025</a:t>
            </a:r>
          </a:p>
        </p:txBody>
      </p:sp>
      <p:sp>
        <p:nvSpPr>
          <p:cNvPr id="5" name="Footer Placeholder 4"/>
          <p:cNvSpPr>
            <a:spLocks noGrp="1"/>
          </p:cNvSpPr>
          <p:nvPr>
            <p:ph type="ftr" sz="quarter" idx="11"/>
          </p:nvPr>
        </p:nvSpPr>
        <p:spPr/>
        <p:txBody>
          <a:bodyPr/>
          <a:lstStyle/>
          <a:p>
            <a:r>
              <a:rPr lang="en-US" dirty="0"/>
              <a:t>Review No. 01        Batch No. CB6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23</a:t>
            </a:fld>
            <a:endParaRPr lang="en-IN"/>
          </a:p>
        </p:txBody>
      </p:sp>
    </p:spTree>
    <p:extLst>
      <p:ext uri="{BB962C8B-B14F-4D97-AF65-F5344CB8AC3E}">
        <p14:creationId xmlns:p14="http://schemas.microsoft.com/office/powerpoint/2010/main" val="34605998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r>
              <a:rPr lang="en-US" dirty="0">
                <a:latin typeface="Times New Roman" panose="02020603050405020304" pitchFamily="18" charset="0"/>
                <a:cs typeface="Times New Roman" panose="02020603050405020304" pitchFamily="18" charset="0"/>
              </a:rPr>
              <a:t>10-11-25</a:t>
            </a: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latin typeface="Times New Roman" panose="02020603050405020304" pitchFamily="18" charset="0"/>
                <a:cs typeface="Times New Roman" panose="02020603050405020304" pitchFamily="18" charset="0"/>
              </a:rPr>
              <a:t>Review No. 01        Batch No. CB6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24</a:t>
            </a:fld>
            <a:endParaRPr lang="en-US">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0EC7430A-33CA-2565-819E-28B11E34152A}"/>
              </a:ext>
            </a:extLst>
          </p:cNvPr>
          <p:cNvSpPr txBox="1"/>
          <p:nvPr/>
        </p:nvSpPr>
        <p:spPr>
          <a:xfrm>
            <a:off x="4419024" y="4674156"/>
            <a:ext cx="3603872" cy="584775"/>
          </a:xfrm>
          <a:prstGeom prst="rect">
            <a:avLst/>
          </a:prstGeom>
          <a:noFill/>
        </p:spPr>
        <p:txBody>
          <a:bodyPr wrap="none" rtlCol="0">
            <a:spAutoFit/>
          </a:bodyPr>
          <a:lstStyle/>
          <a:p>
            <a:r>
              <a:rPr lang="en-US" sz="3200" dirty="0">
                <a:latin typeface="Arial Black" panose="020B0A04020102020204" pitchFamily="34" charset="0"/>
              </a:rPr>
              <a:t>Any questions?</a:t>
            </a:r>
          </a:p>
        </p:txBody>
      </p:sp>
      <p:sp>
        <p:nvSpPr>
          <p:cNvPr id="4" name="Content Placeholder 3">
            <a:extLst>
              <a:ext uri="{FF2B5EF4-FFF2-40B4-BE49-F238E27FC236}">
                <a16:creationId xmlns:a16="http://schemas.microsoft.com/office/drawing/2014/main" id="{111E7090-FBE5-8B18-1E60-0B3BF114FF49}"/>
              </a:ext>
            </a:extLst>
          </p:cNvPr>
          <p:cNvSpPr>
            <a:spLocks noGrp="1"/>
          </p:cNvSpPr>
          <p:nvPr>
            <p:ph idx="1"/>
          </p:nvPr>
        </p:nvSpPr>
        <p:spPr/>
        <p:txBody>
          <a:bodyPr>
            <a:normAutofit/>
          </a:bodyPr>
          <a:lstStyle/>
          <a:p>
            <a:pPr marL="0" indent="0">
              <a:buNone/>
            </a:pPr>
            <a:r>
              <a:rPr lang="en-IN" sz="5400" dirty="0"/>
              <a:t>                        </a:t>
            </a:r>
          </a:p>
          <a:p>
            <a:pPr marL="0" indent="0">
              <a:buNone/>
            </a:pPr>
            <a:r>
              <a:rPr lang="en-IN" sz="5400" i="1" dirty="0"/>
              <a:t>                      </a:t>
            </a:r>
            <a:r>
              <a:rPr lang="en-IN" sz="5400" i="1" dirty="0">
                <a:solidFill>
                  <a:srgbClr val="7030A0"/>
                </a:solidFill>
              </a:rPr>
              <a:t>Thank </a:t>
            </a:r>
            <a:r>
              <a:rPr lang="en-IN" sz="5400" dirty="0">
                <a:solidFill>
                  <a:srgbClr val="7030A0"/>
                </a:solidFill>
              </a:rPr>
              <a:t>You!!</a:t>
            </a:r>
          </a:p>
        </p:txBody>
      </p:sp>
    </p:spTree>
    <p:extLst>
      <p:ext uri="{BB962C8B-B14F-4D97-AF65-F5344CB8AC3E}">
        <p14:creationId xmlns:p14="http://schemas.microsoft.com/office/powerpoint/2010/main" val="9323525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2460</TotalTime>
  <Words>2628</Words>
  <Application>Microsoft Office PowerPoint</Application>
  <PresentationFormat>Widescreen</PresentationFormat>
  <Paragraphs>288</Paragraphs>
  <Slides>24</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Arial</vt:lpstr>
      <vt:lpstr>Arial Black</vt:lpstr>
      <vt:lpstr>Calibri</vt:lpstr>
      <vt:lpstr>Calibri Light</vt:lpstr>
      <vt:lpstr>Hubot Sans Bold</vt:lpstr>
      <vt:lpstr>Open Sans</vt:lpstr>
      <vt:lpstr>Roboto Condensed</vt:lpstr>
      <vt:lpstr>Times New Roman</vt:lpstr>
      <vt:lpstr>Wingdings</vt:lpstr>
      <vt:lpstr>Office Theme</vt:lpstr>
      <vt:lpstr>PowerPoint Presentation</vt:lpstr>
      <vt:lpstr>OUTLINE</vt:lpstr>
      <vt:lpstr>ABSTRACT</vt:lpstr>
      <vt:lpstr>PowerPoint Presentation</vt:lpstr>
      <vt:lpstr>LITERATURE SURVEY</vt:lpstr>
      <vt:lpstr>PowerPoint Presentation</vt:lpstr>
      <vt:lpstr>RESEARCH GAPS</vt:lpstr>
      <vt:lpstr>PROBLEM STATEMENT</vt:lpstr>
      <vt:lpstr>OBJECTIVES</vt:lpstr>
      <vt:lpstr>BLOCK DIAGRAM OR FLOW DIAGRAM</vt:lpstr>
      <vt:lpstr>METHODOLOGY AND FEATURE ENGINEERING</vt:lpstr>
      <vt:lpstr>Methodology: GRU-Attention Architecture</vt:lpstr>
      <vt:lpstr>PowerPoint Presentation</vt:lpstr>
      <vt:lpstr>PowerPoint Presentation</vt:lpstr>
      <vt:lpstr>PowerPoint Presentation</vt:lpstr>
      <vt:lpstr>PowerPoint Presentation</vt:lpstr>
      <vt:lpstr>RESULTS &amp; ANALYSIS</vt:lpstr>
      <vt:lpstr>PowerPoint Presentation</vt:lpstr>
      <vt:lpstr>CONCLUSION and FUTURE SCOPE</vt:lpstr>
      <vt:lpstr>REFERENCES</vt:lpstr>
      <vt:lpstr>PowerPoint Presentation</vt:lpstr>
      <vt:lpstr>PowerPoint Presentation</vt:lpstr>
      <vt:lpstr>ACKNOWLEDGEMENT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dc:title>
  <dc:creator>admin</dc:creator>
  <cp:lastModifiedBy>mahesh babu jonnalagadda</cp:lastModifiedBy>
  <cp:revision>41</cp:revision>
  <dcterms:created xsi:type="dcterms:W3CDTF">2023-12-22T11:34:02Z</dcterms:created>
  <dcterms:modified xsi:type="dcterms:W3CDTF">2025-11-10T06:28:01Z</dcterms:modified>
</cp:coreProperties>
</file>