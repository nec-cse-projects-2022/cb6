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5753100" cy="32385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IBM Plex Sans Condensed" panose="020B050605020300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vpx60kFJchDSxv1XZCtyUwYV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97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661163" y="1619250"/>
            <a:ext cx="4365106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dirty="0">
                <a:solidFill>
                  <a:srgbClr val="1668AB"/>
                </a:solidFill>
                <a:latin typeface="Calibri"/>
                <a:cs typeface="Calibri"/>
                <a:sym typeface="Calibri"/>
              </a:rPr>
              <a:t>Paper Title : </a:t>
            </a:r>
            <a:r>
              <a:rPr lang="en-US" sz="1100" b="1" dirty="0" err="1">
                <a:solidFill>
                  <a:srgbClr val="1668AB"/>
                </a:solidFill>
                <a:latin typeface="Calibri"/>
                <a:cs typeface="Calibri"/>
                <a:sym typeface="Calibri"/>
              </a:rPr>
              <a:t>PrivLogEdu</a:t>
            </a:r>
            <a:r>
              <a:rPr lang="en-US" sz="1100" b="1" dirty="0">
                <a:solidFill>
                  <a:srgbClr val="1668AB"/>
                </a:solidFill>
                <a:latin typeface="Calibri"/>
                <a:cs typeface="Calibri"/>
                <a:sym typeface="Calibri"/>
              </a:rPr>
              <a:t>: An Innovative Framework for Real-Time Engagement Recognition in Hybrid Classrooms Using Non-Visual Log Data While Maintaining Privacy.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Paper Id : 905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26831" y="2387094"/>
            <a:ext cx="4299438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 :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Sighakolli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Naga Tirumala 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Rao, 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Palutla Venkata Naveen, Jonnalagadda Mahesh Babu,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V.Srilakshmi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Jyothi M,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Gujjula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Ramanareddy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Dodda Venkata Reddy.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6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881023" y="124042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84C7E6-FFE4-1E23-3234-A0173F6AC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14" y="304750"/>
            <a:ext cx="470138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/ Motivation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&amp; hybrid classrooms require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engagement tracking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depend on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emotion detection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methods create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issues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high costs, and ethical concerns.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for 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privacy-preserving, real-time engagement model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Scope / Goal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engagement levels (low / moderate / high).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non-visual </a:t>
            </a:r>
            <a:r>
              <a:rPr lang="en-IN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+ complete privacy.</a:t>
            </a:r>
          </a:p>
          <a:p>
            <a:endParaRPr lang="en-IN" sz="1100" dirty="0"/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scalable, ethical engagement-detection framework.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 in hybrid classrooms.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99.91% accuracy using EdNet-KT1.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29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957223" y="93995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480213" y="375891"/>
            <a:ext cx="4726781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Context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education is widely used in learning analytics and personalization.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strongly influences learning outcomes, retention, and participation.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Problem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systems = privacy risk + high deployment cost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need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non-intrusive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engagement methods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data gives rich behavioral patterns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Overview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Skill2Vec embeddings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GRU-Attention deep learning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+ temporal log analysis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non-visual behaviors as features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long sequences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inference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432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816702" y="77413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351586" y="436721"/>
            <a:ext cx="341316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Approaches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emotion detection (face, eye tracking)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using log sequences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student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GRU/LSTM temporal prediction models</a:t>
            </a: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Limitations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systems: privacy risks, cultural bias, lighting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offer only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engagement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multi-class predictions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performance on large datasets</a:t>
            </a: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PrivLogEdu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non-visual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privacy-safe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(99.91%)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Skill2Vec + GRU-Attention hybrid approach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real-time for hybrid classrooms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11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marR="0" lvl="1" indent="0" algn="l" rtl="0">
              <a:lnSpc>
                <a:spcPct val="855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56179" y="493740"/>
            <a:ext cx="297476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Overview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learner log data (time, accuracy, skill ID).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Preprocess: clean data, split sessions, normalize values.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features: avg. time/question, accuracy, burstiness, skill-switch rate.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Skill2Vec embeddings for skill sequences.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GRU + Attention for temporal pattern learning.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Low / Moderate / High engagement.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(Short)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Data → Preprocessing → Features + Skill2Vec → GRU-Attention → Engagement Prediction</a:t>
            </a:r>
          </a:p>
        </p:txBody>
      </p:sp>
      <p:sp>
        <p:nvSpPr>
          <p:cNvPr id="115" name="Google Shape;115;p5"/>
          <p:cNvSpPr txBox="1"/>
          <p:nvPr/>
        </p:nvSpPr>
        <p:spPr>
          <a:xfrm>
            <a:off x="-892969" y="111832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F3A2B-5D3A-8710-D2F0-33F3C25230F4}"/>
              </a:ext>
            </a:extLst>
          </p:cNvPr>
          <p:cNvSpPr txBox="1"/>
          <p:nvPr/>
        </p:nvSpPr>
        <p:spPr>
          <a:xfrm>
            <a:off x="3018615" y="493740"/>
            <a:ext cx="27427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Summary</a:t>
            </a:r>
          </a:p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 → GRU Layer → Attention → Dense Layer →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 classes)</a:t>
            </a:r>
          </a:p>
          <a:p>
            <a:b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UI Images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pipeline diagram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block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Captions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Non-visual, privacy-safe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learning indicators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Skill2Vec: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skill relationships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sequences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important actions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engagement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124750" y="614467"/>
            <a:ext cx="2677197" cy="200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/ Tables / Charts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curve: Stable training &amp; testing convergence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Very low misclassification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table: Precision/Recall ≈ 1.00 for major classes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Results (Short)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99.91%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 perfect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Precision/Recall: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Excellent for low &amp; moderate classes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Stability: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overfitting observed</a:t>
            </a:r>
          </a:p>
        </p:txBody>
      </p:sp>
      <p:sp>
        <p:nvSpPr>
          <p:cNvPr id="125" name="Google Shape;125;p6"/>
          <p:cNvSpPr txBox="1"/>
          <p:nvPr/>
        </p:nvSpPr>
        <p:spPr>
          <a:xfrm>
            <a:off x="-914402" y="115627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0B577-9E64-B7BE-EE9D-70869E8AA491}"/>
              </a:ext>
            </a:extLst>
          </p:cNvPr>
          <p:cNvSpPr txBox="1"/>
          <p:nvPr/>
        </p:nvSpPr>
        <p:spPr>
          <a:xfrm>
            <a:off x="2788502" y="614467"/>
            <a:ext cx="296459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LSTM: 83.5%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GRU: 86.7%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Transformer: 94.1%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PrivLogEdu: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99.91% (highest performance)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Observations &amp; Insights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Non-visual logs provide rich engagement patterns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Skill2Vec + GRU-Attention gives strong temporal learning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high accuracy with low computational cost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privacy-preserving—no visual data required</a:t>
            </a:r>
          </a:p>
          <a:p>
            <a:endParaRPr lang="en-IN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103870" y="450943"/>
            <a:ext cx="2932224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Non-visual logs can accurately detect engagement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+ Attention + Skill2Vec achieves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99.91% accuracy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effectively in real-time hybrid classrooms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camera data)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computational cost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generalization and stability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large educational systems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high-engagement category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mainly on EdNet-KT1 dataset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quality of log data</a:t>
            </a:r>
          </a:p>
        </p:txBody>
      </p:sp>
      <p:sp>
        <p:nvSpPr>
          <p:cNvPr id="132" name="Google Shape;132;p7"/>
          <p:cNvSpPr txBox="1"/>
          <p:nvPr/>
        </p:nvSpPr>
        <p:spPr>
          <a:xfrm>
            <a:off x="-828675" y="111832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6DB824-A53F-DFC7-BE7C-2713307021C1}"/>
              </a:ext>
            </a:extLst>
          </p:cNvPr>
          <p:cNvSpPr txBox="1"/>
          <p:nvPr/>
        </p:nvSpPr>
        <p:spPr>
          <a:xfrm>
            <a:off x="3036094" y="450943"/>
            <a:ext cx="27170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non-visual engagement framework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 engineering &amp; Skill2Vec embeddings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GRU-Attention architecture for sequential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multi-class engagement prediction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K–12 &amp; university datasets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keystroke + navigation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federated learning for cross-institution training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pilot in hybrid classrooms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9827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-904781" y="82390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905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0E407-9727-3E0F-E524-A047AAB63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100" y="583727"/>
            <a:ext cx="57912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Kumar, R. Patel, and M. Sharma, “Federated engagement prediction in hybrid classrooms using non-visual interaction data,”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Trans. Learn. Technol.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3, pp. 452–463, May 2025.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X. Li, H. Chen, and Y. Sun, “Privacy-aware student behavior modeling using sequence-based log analytics,”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Educ.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198, Feb. 2025.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Lee, S. Choi, and P. Kang, “Challenges of visual emotion detection in online education,”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50122–50134, 2025.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Alzahrani, M. Alharthi, and L. Shao, “Non-intrusive behavioral features for scalable engagement detection,”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Int. J.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Educ.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35, pp. 143–160, 2025.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Z. Wang, F. Liu, and C. Zhang, “Transformer-enhanced temporal models for student engagement analysis,”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IEEE AIED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pp. 211–219, 2025.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P. Singh and D. Arora, “Statistical feature engineering for log-based educational data mining,”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Educ. Data Sci.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1, pp. 77–89, 2024.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Huang, Y. Zhao, and X. Wu, “Skill graph neural networks for personalized learning analytics,”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Data Eng.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37, no. 8, pp. 920–933, Aug. 2024.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Q. Chen, L. Han, and S. Zhou, “Behavioral analytics vs visual analytics for engagement detection,” </a:t>
            </a:r>
            <a:r>
              <a:rPr kumimoji="0" lang="en-US" altLang="en-US" sz="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Educ. Rev.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64, pp. 29–46, 2024.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Wu, H. Liu, and J. Park, “Attention-augmented GRU models for educational sequence prediction,”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102344–102357, 2024.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Zhang, Y. Tan, and F. Xie, “Improving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EdNet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engagement prediction using transformers,”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Proc. EDM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pp. 98–107, 2024.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68D19-5254-B039-BCCA-E2762D90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1"/>
            <a:ext cx="5753100" cy="3224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780C8-D1AF-0390-9CFC-D55ACB40120E}"/>
              </a:ext>
            </a:extLst>
          </p:cNvPr>
          <p:cNvSpPr txBox="1"/>
          <p:nvPr/>
        </p:nvSpPr>
        <p:spPr>
          <a:xfrm>
            <a:off x="-751115" y="105633"/>
            <a:ext cx="2877670" cy="318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 905</a:t>
            </a:r>
            <a:endParaRPr lang="en-US" sz="1400" b="1" i="0" u="none" strike="noStrike" cap="none" dirty="0">
              <a:solidFill>
                <a:srgbClr val="1668AB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D175D9-5E80-E810-BB43-E1F71F911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4" y="472803"/>
            <a:ext cx="3924932" cy="22066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C72D10-8F02-B523-4462-2427A584B13A}"/>
              </a:ext>
            </a:extLst>
          </p:cNvPr>
          <p:cNvSpPr txBox="1"/>
          <p:nvPr/>
        </p:nvSpPr>
        <p:spPr>
          <a:xfrm>
            <a:off x="2126555" y="2720416"/>
            <a:ext cx="2166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Thank You So Much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1099</Words>
  <Application>Microsoft Office PowerPoint</Application>
  <PresentationFormat>Custom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DM Sans</vt:lpstr>
      <vt:lpstr>IBM Plex Sans Condensed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</dc:creator>
  <cp:lastModifiedBy>Administrator</cp:lastModifiedBy>
  <cp:revision>2</cp:revision>
  <dcterms:created xsi:type="dcterms:W3CDTF">2006-08-16T00:00:00Z</dcterms:created>
  <dcterms:modified xsi:type="dcterms:W3CDTF">2026-02-09T12:06:41Z</dcterms:modified>
</cp:coreProperties>
</file>